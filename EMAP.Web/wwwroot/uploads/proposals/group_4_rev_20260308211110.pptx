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revisionInfo.xml" ContentType="application/vnd.ms-powerpoint.revisioninfo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1" r:id="rId1"/>
  </p:sldMasterIdLst>
  <p:sldIdLst>
    <p:sldId id="256" r:id="rId2"/>
    <p:sldId id="257" r:id="rId3"/>
    <p:sldId id="258" r:id="rId4"/>
    <p:sldId id="259" r:id="rId5"/>
    <p:sldId id="294" r:id="rId6"/>
    <p:sldId id="260" r:id="rId7"/>
    <p:sldId id="261" r:id="rId8"/>
    <p:sldId id="295" r:id="rId9"/>
    <p:sldId id="296" r:id="rId10"/>
    <p:sldId id="262" r:id="rId11"/>
    <p:sldId id="264" r:id="rId12"/>
    <p:sldId id="271" r:id="rId13"/>
    <p:sldId id="266" r:id="rId14"/>
    <p:sldId id="269" r:id="rId15"/>
    <p:sldId id="297" r:id="rId16"/>
    <p:sldId id="270" r:id="rId17"/>
    <p:sldId id="272" r:id="rId18"/>
    <p:sldId id="273" r:id="rId19"/>
    <p:sldId id="274" r:id="rId20"/>
    <p:sldId id="275" r:id="rId21"/>
    <p:sldId id="298" r:id="rId22"/>
    <p:sldId id="299" r:id="rId23"/>
    <p:sldId id="276" r:id="rId24"/>
    <p:sldId id="277" r:id="rId25"/>
    <p:sldId id="300" r:id="rId26"/>
    <p:sldId id="301" r:id="rId27"/>
    <p:sldId id="302" r:id="rId28"/>
    <p:sldId id="303" r:id="rId29"/>
    <p:sldId id="304" r:id="rId30"/>
    <p:sldId id="305" r:id="rId31"/>
    <p:sldId id="278" r:id="rId32"/>
    <p:sldId id="306" r:id="rId33"/>
    <p:sldId id="307" r:id="rId34"/>
    <p:sldId id="308" r:id="rId35"/>
    <p:sldId id="309" r:id="rId36"/>
    <p:sldId id="310" r:id="rId37"/>
    <p:sldId id="311" r:id="rId38"/>
    <p:sldId id="312" r:id="rId39"/>
    <p:sldId id="313" r:id="rId40"/>
    <p:sldId id="279" r:id="rId41"/>
    <p:sldId id="314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713F9C-0AC6-A052-21B2-13D2AE48E768}" v="724" dt="2026-02-15T18:29:23.850"/>
    <p1510:client id="{E5A7984E-6E6A-9501-FC77-61A4A3F10CF5}" v="449" dt="2026-02-16T05:18:37.4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microsoft.com/office/2015/10/relationships/revisionInfo" Target="revisionInfo.xml"/><Relationship Id="rId50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024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960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3066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239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422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084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91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104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664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070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439941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74447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602765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4967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1249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696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2"/>
            <a:ext cx="2356674" cy="6853285"/>
            <a:chOff x="6627813" y="195454"/>
            <a:chExt cx="1952625" cy="5678297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590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83" r:id="rId2"/>
    <p:sldLayoutId id="2147483884" r:id="rId3"/>
    <p:sldLayoutId id="2147483885" r:id="rId4"/>
    <p:sldLayoutId id="2147483886" r:id="rId5"/>
    <p:sldLayoutId id="2147483887" r:id="rId6"/>
    <p:sldLayoutId id="2147483888" r:id="rId7"/>
    <p:sldLayoutId id="2147483889" r:id="rId8"/>
    <p:sldLayoutId id="2147483890" r:id="rId9"/>
    <p:sldLayoutId id="2147483891" r:id="rId10"/>
    <p:sldLayoutId id="2147483892" r:id="rId11"/>
    <p:sldLayoutId id="2147483893" r:id="rId12"/>
    <p:sldLayoutId id="2147483894" r:id="rId13"/>
    <p:sldLayoutId id="2147483895" r:id="rId14"/>
    <p:sldLayoutId id="2147483896" r:id="rId15"/>
    <p:sldLayoutId id="214748389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mailto:quratul.ain@paf-iast.edu.pk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ea typeface="+mj-lt"/>
                <a:cs typeface="+mj-lt"/>
              </a:rPr>
              <a:t>Foundation of Formal Methods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404040"/>
                </a:solidFill>
              </a:rPr>
              <a:t>COMP-387</a:t>
            </a:r>
          </a:p>
          <a:p>
            <a:r>
              <a:rPr lang="en-US" b="1" dirty="0">
                <a:solidFill>
                  <a:srgbClr val="404040"/>
                </a:solidFill>
              </a:rPr>
              <a:t>Instructor:</a:t>
            </a:r>
            <a:r>
              <a:rPr lang="en-US" dirty="0">
                <a:solidFill>
                  <a:srgbClr val="404040"/>
                </a:solidFill>
              </a:rPr>
              <a:t> Ms. Quratulain Bajwa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E89FB-B5A4-92C6-613F-0F8BD6BD2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E5DAF-1542-1A85-BEA9-8287F094D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Binary Logic Operations</a:t>
            </a:r>
          </a:p>
          <a:p>
            <a:r>
              <a:rPr lang="en-US">
                <a:ea typeface="+mn-lt"/>
                <a:cs typeface="+mn-lt"/>
              </a:rPr>
              <a:t>Finite State Machine &amp; It's Types</a:t>
            </a:r>
          </a:p>
          <a:p>
            <a:br>
              <a:rPr lang="en-US" dirty="0">
                <a:ea typeface="+mn-lt"/>
                <a:cs typeface="+mn-lt"/>
              </a:rPr>
            </a:b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4836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CC8FF-6C6C-FEE5-30A7-DB24662AD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AE2BE-8E76-0241-62A4-B717FFFFD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Basic Binary Logic Operations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2F3FE-390F-B02E-0932-521112061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69156"/>
            <a:ext cx="8901289" cy="434206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400">
                <a:ea typeface="+mn-lt"/>
                <a:cs typeface="+mn-lt"/>
              </a:rPr>
              <a:t>These operations work on </a:t>
            </a:r>
            <a:r>
              <a:rPr lang="en-US" sz="2400" b="1">
                <a:ea typeface="+mn-lt"/>
                <a:cs typeface="+mn-lt"/>
              </a:rPr>
              <a:t>binary values (0 and 1)</a:t>
            </a:r>
            <a:r>
              <a:rPr lang="en-US" sz="2400">
                <a:ea typeface="+mn-lt"/>
                <a:cs typeface="+mn-lt"/>
              </a:rPr>
              <a:t>.</a:t>
            </a:r>
            <a:endParaRPr lang="en-US" sz="2400" b="1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400" b="1">
                <a:ea typeface="+mn-lt"/>
                <a:cs typeface="+mn-lt"/>
              </a:rPr>
              <a:t>Main operations:</a:t>
            </a:r>
            <a:endParaRPr lang="en-US" b="1">
              <a:ea typeface="+mn-lt"/>
              <a:cs typeface="+mn-lt"/>
            </a:endParaRPr>
          </a:p>
          <a:p>
            <a:r>
              <a:rPr lang="en-US" sz="2400">
                <a:ea typeface="+mn-lt"/>
                <a:cs typeface="+mn-lt"/>
              </a:rPr>
              <a:t>AND</a:t>
            </a:r>
            <a:endParaRPr lang="en-US"/>
          </a:p>
          <a:p>
            <a:r>
              <a:rPr lang="en-US" sz="2400">
                <a:ea typeface="+mn-lt"/>
                <a:cs typeface="+mn-lt"/>
              </a:rPr>
              <a:t>OR</a:t>
            </a:r>
            <a:endParaRPr lang="en-US"/>
          </a:p>
          <a:p>
            <a:r>
              <a:rPr lang="en-US" sz="2400">
                <a:ea typeface="+mn-lt"/>
                <a:cs typeface="+mn-lt"/>
              </a:rPr>
              <a:t>NOT</a:t>
            </a:r>
            <a:endParaRPr lang="en-US"/>
          </a:p>
          <a:p>
            <a:r>
              <a:rPr lang="en-US" sz="2400">
                <a:ea typeface="+mn-lt"/>
                <a:cs typeface="+mn-lt"/>
              </a:rPr>
              <a:t>NAND</a:t>
            </a:r>
            <a:endParaRPr lang="en-US"/>
          </a:p>
          <a:p>
            <a:r>
              <a:rPr lang="en-US" sz="2400">
                <a:ea typeface="+mn-lt"/>
                <a:cs typeface="+mn-lt"/>
              </a:rPr>
              <a:t>NOR</a:t>
            </a:r>
            <a:endParaRPr lang="en-US"/>
          </a:p>
          <a:p>
            <a:r>
              <a:rPr lang="en-US" sz="2400">
                <a:ea typeface="+mn-lt"/>
                <a:cs typeface="+mn-lt"/>
              </a:rPr>
              <a:t>XOR</a:t>
            </a:r>
            <a:endParaRPr lang="en-US"/>
          </a:p>
          <a:p>
            <a:r>
              <a:rPr lang="en-US" sz="2400">
                <a:ea typeface="+mn-lt"/>
                <a:cs typeface="+mn-lt"/>
              </a:rPr>
              <a:t>XNOR</a:t>
            </a:r>
            <a:endParaRPr lang="en-US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24951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753DA-AE1A-F303-7CA8-966D4E953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9F34B-5E21-1AC2-4FBB-954876676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25798" cy="702335"/>
          </a:xfrm>
        </p:spPr>
        <p:txBody>
          <a:bodyPr/>
          <a:lstStyle/>
          <a:p>
            <a:r>
              <a:rPr lang="en-US" b="1">
                <a:ea typeface="+mj-lt"/>
                <a:cs typeface="+mj-lt"/>
              </a:rPr>
              <a:t>AND Operation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EB2E1-3EBF-890A-A6C6-0F8553CDF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84489"/>
            <a:ext cx="8915400" cy="44267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>
                <a:ea typeface="+mn-lt"/>
                <a:cs typeface="+mn-lt"/>
              </a:rPr>
              <a:t>Output is </a:t>
            </a:r>
            <a:r>
              <a:rPr lang="en-US" sz="2400" b="1">
                <a:ea typeface="+mn-lt"/>
                <a:cs typeface="+mn-lt"/>
              </a:rPr>
              <a:t>1 only when all inputs are 1</a:t>
            </a:r>
            <a:r>
              <a:rPr lang="en-US" sz="2400">
                <a:ea typeface="+mn-lt"/>
                <a:cs typeface="+mn-lt"/>
              </a:rPr>
              <a:t>.</a:t>
            </a:r>
          </a:p>
          <a:p>
            <a:r>
              <a:rPr lang="en-US" sz="2400">
                <a:ea typeface="+mn-lt"/>
                <a:cs typeface="+mn-lt"/>
              </a:rPr>
              <a:t>Expression: </a:t>
            </a:r>
            <a:r>
              <a:rPr lang="en-US" sz="2400" b="1">
                <a:ea typeface="+mn-lt"/>
                <a:cs typeface="+mn-lt"/>
              </a:rPr>
              <a:t>A · B</a:t>
            </a:r>
            <a:endParaRPr lang="en-US" sz="2400" b="1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3CB76D0-8F74-F3BB-8BB7-852400A226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178896"/>
              </p:ext>
            </p:extLst>
          </p:nvPr>
        </p:nvGraphicFramePr>
        <p:xfrm>
          <a:off x="4388555" y="3019777"/>
          <a:ext cx="4444728" cy="2401770"/>
        </p:xfrm>
        <a:graphic>
          <a:graphicData uri="http://schemas.openxmlformats.org/drawingml/2006/table">
            <a:tbl>
              <a:tblPr bandRow="1">
                <a:tableStyleId>{BC89EF96-8CEA-46FF-86C4-4CE0E7609802}</a:tableStyleId>
              </a:tblPr>
              <a:tblGrid>
                <a:gridCol w="1075875">
                  <a:extLst>
                    <a:ext uri="{9D8B030D-6E8A-4147-A177-3AD203B41FA5}">
                      <a16:colId xmlns:a16="http://schemas.microsoft.com/office/drawing/2014/main" val="3079924979"/>
                    </a:ext>
                  </a:extLst>
                </a:gridCol>
                <a:gridCol w="1157076">
                  <a:extLst>
                    <a:ext uri="{9D8B030D-6E8A-4147-A177-3AD203B41FA5}">
                      <a16:colId xmlns:a16="http://schemas.microsoft.com/office/drawing/2014/main" val="2265090743"/>
                    </a:ext>
                  </a:extLst>
                </a:gridCol>
                <a:gridCol w="2211777">
                  <a:extLst>
                    <a:ext uri="{9D8B030D-6E8A-4147-A177-3AD203B41FA5}">
                      <a16:colId xmlns:a16="http://schemas.microsoft.com/office/drawing/2014/main" val="1240849184"/>
                    </a:ext>
                  </a:extLst>
                </a:gridCol>
              </a:tblGrid>
              <a:tr h="4803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A AND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975995"/>
                  </a:ext>
                </a:extLst>
              </a:tr>
              <a:tr h="4803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9454639"/>
                  </a:ext>
                </a:extLst>
              </a:tr>
              <a:tr h="4803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2547140"/>
                  </a:ext>
                </a:extLst>
              </a:tr>
              <a:tr h="4803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4147855"/>
                  </a:ext>
                </a:extLst>
              </a:tr>
              <a:tr h="4803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4376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5116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2DB7C-D907-AA84-D917-A489F3FCF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FA59D-4214-9687-07ED-70F188EAB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25798" cy="702335"/>
          </a:xfrm>
        </p:spPr>
        <p:txBody>
          <a:bodyPr/>
          <a:lstStyle/>
          <a:p>
            <a:r>
              <a:rPr lang="en-US" b="1">
                <a:ea typeface="+mj-lt"/>
                <a:cs typeface="+mj-lt"/>
              </a:rPr>
              <a:t>OR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DE53A-330D-64CC-BB51-6A9B770B3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84489"/>
            <a:ext cx="8915400" cy="44267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>
                <a:ea typeface="+mn-lt"/>
                <a:cs typeface="+mn-lt"/>
              </a:rPr>
              <a:t>Output is </a:t>
            </a:r>
            <a:r>
              <a:rPr lang="en-US" sz="2400" b="1">
                <a:ea typeface="+mn-lt"/>
                <a:cs typeface="+mn-lt"/>
              </a:rPr>
              <a:t>1 if at least one input is 1</a:t>
            </a:r>
            <a:r>
              <a:rPr lang="en-US" sz="2400">
                <a:ea typeface="+mn-lt"/>
                <a:cs typeface="+mn-lt"/>
              </a:rPr>
              <a:t>.</a:t>
            </a:r>
          </a:p>
          <a:p>
            <a:r>
              <a:rPr lang="en-US" sz="2400">
                <a:ea typeface="+mn-lt"/>
                <a:cs typeface="+mn-lt"/>
              </a:rPr>
              <a:t>Expression: A + B</a:t>
            </a:r>
            <a:endParaRPr lang="en-US" sz="2400" dirty="0">
              <a:ea typeface="+mn-lt"/>
              <a:cs typeface="+mn-lt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2B68A95-6ECE-6F12-7D14-B9E5538230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4533367"/>
              </p:ext>
            </p:extLst>
          </p:nvPr>
        </p:nvGraphicFramePr>
        <p:xfrm>
          <a:off x="4261555" y="3062111"/>
          <a:ext cx="3669882" cy="1828800"/>
        </p:xfrm>
        <a:graphic>
          <a:graphicData uri="http://schemas.openxmlformats.org/drawingml/2006/table">
            <a:tbl>
              <a:tblPr bandRow="1">
                <a:tableStyleId>{BC89EF96-8CEA-46FF-86C4-4CE0E7609802}</a:tableStyleId>
              </a:tblPr>
              <a:tblGrid>
                <a:gridCol w="712746">
                  <a:extLst>
                    <a:ext uri="{9D8B030D-6E8A-4147-A177-3AD203B41FA5}">
                      <a16:colId xmlns:a16="http://schemas.microsoft.com/office/drawing/2014/main" val="3665858366"/>
                    </a:ext>
                  </a:extLst>
                </a:gridCol>
                <a:gridCol w="835583">
                  <a:extLst>
                    <a:ext uri="{9D8B030D-6E8A-4147-A177-3AD203B41FA5}">
                      <a16:colId xmlns:a16="http://schemas.microsoft.com/office/drawing/2014/main" val="2838478397"/>
                    </a:ext>
                  </a:extLst>
                </a:gridCol>
                <a:gridCol w="2121553">
                  <a:extLst>
                    <a:ext uri="{9D8B030D-6E8A-4147-A177-3AD203B41FA5}">
                      <a16:colId xmlns:a16="http://schemas.microsoft.com/office/drawing/2014/main" val="38652955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A OR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43402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8906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09634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4074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3167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7508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E39A2-8BD6-644B-35E5-DAF41D071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BC1B6-27DE-41A9-BABF-A9E98107F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NOT Operation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01FCA-26FB-DA6B-2D1F-9EE983E7D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26823"/>
            <a:ext cx="8901289" cy="438439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>
                <a:ea typeface="+mn-lt"/>
                <a:cs typeface="+mn-lt"/>
              </a:rPr>
              <a:t>Reverses the input.</a:t>
            </a:r>
            <a:endParaRPr lang="en-US" sz="2400" dirty="0"/>
          </a:p>
          <a:p>
            <a:r>
              <a:rPr lang="en-US" sz="2400" b="1">
                <a:ea typeface="+mn-lt"/>
                <a:cs typeface="+mn-lt"/>
              </a:rPr>
              <a:t>Expression:</a:t>
            </a:r>
            <a:r>
              <a:rPr lang="en-US" sz="2400">
                <a:ea typeface="+mn-lt"/>
                <a:cs typeface="+mn-lt"/>
              </a:rPr>
              <a:t> A'</a:t>
            </a:r>
            <a:endParaRPr lang="en-US"/>
          </a:p>
          <a:p>
            <a:endParaRPr lang="en-US" sz="24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1B5941-EBBA-621E-9232-9FB3B30552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3928744"/>
              </p:ext>
            </p:extLst>
          </p:nvPr>
        </p:nvGraphicFramePr>
        <p:xfrm>
          <a:off x="4727222" y="3162582"/>
          <a:ext cx="3543298" cy="1097280"/>
        </p:xfrm>
        <a:graphic>
          <a:graphicData uri="http://schemas.openxmlformats.org/drawingml/2006/table">
            <a:tbl>
              <a:tblPr bandRow="1">
                <a:tableStyleId>{BC89EF96-8CEA-46FF-86C4-4CE0E7609802}</a:tableStyleId>
              </a:tblPr>
              <a:tblGrid>
                <a:gridCol w="1689099">
                  <a:extLst>
                    <a:ext uri="{9D8B030D-6E8A-4147-A177-3AD203B41FA5}">
                      <a16:colId xmlns:a16="http://schemas.microsoft.com/office/drawing/2014/main" val="3042829545"/>
                    </a:ext>
                  </a:extLst>
                </a:gridCol>
                <a:gridCol w="1854199">
                  <a:extLst>
                    <a:ext uri="{9D8B030D-6E8A-4147-A177-3AD203B41FA5}">
                      <a16:colId xmlns:a16="http://schemas.microsoft.com/office/drawing/2014/main" val="34488225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NOT 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627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29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13458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6559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04BEC-C67E-403C-BB9F-AE40F719E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4B20A-FD30-12B3-5E3C-F7749B8D4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25798" cy="716446"/>
          </a:xfrm>
        </p:spPr>
        <p:txBody>
          <a:bodyPr/>
          <a:lstStyle/>
          <a:p>
            <a:r>
              <a:rPr lang="en-US" b="1">
                <a:ea typeface="+mj-lt"/>
                <a:cs typeface="+mj-lt"/>
              </a:rPr>
              <a:t>NAND Operation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D169F-ADB9-47A8-3B83-37F55C660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42156"/>
            <a:ext cx="8915400" cy="446906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>
                <a:ea typeface="+mn-lt"/>
                <a:cs typeface="+mn-lt"/>
              </a:rPr>
              <a:t>NAND = NOT(AND)</a:t>
            </a:r>
            <a:endParaRPr lang="en-US"/>
          </a:p>
          <a:p>
            <a:r>
              <a:rPr lang="en-US" sz="2400">
                <a:ea typeface="+mn-lt"/>
                <a:cs typeface="+mn-lt"/>
              </a:rPr>
              <a:t>Output is </a:t>
            </a:r>
            <a:r>
              <a:rPr lang="en-US" sz="2400" b="1">
                <a:ea typeface="+mn-lt"/>
                <a:cs typeface="+mn-lt"/>
              </a:rPr>
              <a:t>0 only when both inputs are 1</a:t>
            </a:r>
            <a:r>
              <a:rPr lang="en-US" sz="2400">
                <a:ea typeface="+mn-lt"/>
                <a:cs typeface="+mn-lt"/>
              </a:rPr>
              <a:t>.</a:t>
            </a:r>
            <a:endParaRPr lang="en-US"/>
          </a:p>
          <a:p>
            <a:r>
              <a:rPr lang="en-US" sz="2400">
                <a:ea typeface="+mn-lt"/>
                <a:cs typeface="+mn-lt"/>
              </a:rPr>
              <a:t>Expression: (A · B)'</a:t>
            </a:r>
            <a:endParaRPr lang="en-US" sz="2400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8B20549-E75D-3F0F-4D4A-DA1FAC289C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4779073"/>
              </p:ext>
            </p:extLst>
          </p:nvPr>
        </p:nvGraphicFramePr>
        <p:xfrm>
          <a:off x="4092222" y="3431822"/>
          <a:ext cx="3441525" cy="1828800"/>
        </p:xfrm>
        <a:graphic>
          <a:graphicData uri="http://schemas.openxmlformats.org/drawingml/2006/table">
            <a:tbl>
              <a:tblPr bandRow="1">
                <a:tableStyleId>{BC89EF96-8CEA-46FF-86C4-4CE0E7609802}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1389594073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853698664"/>
                    </a:ext>
                  </a:extLst>
                </a:gridCol>
                <a:gridCol w="1447625">
                  <a:extLst>
                    <a:ext uri="{9D8B030D-6E8A-4147-A177-3AD203B41FA5}">
                      <a16:colId xmlns:a16="http://schemas.microsoft.com/office/drawing/2014/main" val="29047972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NAND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886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9302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0015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0017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3386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2417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A384C-EBDE-961A-CA2C-E781D6F4D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3CCC7-8B83-EF97-FD76-CE5A04CD5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25798" cy="716446"/>
          </a:xfrm>
        </p:spPr>
        <p:txBody>
          <a:bodyPr/>
          <a:lstStyle/>
          <a:p>
            <a:r>
              <a:rPr lang="en-US" b="1">
                <a:ea typeface="+mj-lt"/>
                <a:cs typeface="+mj-lt"/>
              </a:rPr>
              <a:t>NOR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5C1C4-C696-6F87-A6B3-10535B649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42156"/>
            <a:ext cx="8915400" cy="446906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>
                <a:ea typeface="+mn-lt"/>
                <a:cs typeface="+mn-lt"/>
              </a:rPr>
              <a:t>NOR = NOT(OR)</a:t>
            </a:r>
            <a:endParaRPr lang="en-US">
              <a:ea typeface="+mn-lt"/>
              <a:cs typeface="+mn-lt"/>
            </a:endParaRPr>
          </a:p>
          <a:p>
            <a:r>
              <a:rPr lang="en-US" sz="2400">
                <a:ea typeface="+mn-lt"/>
                <a:cs typeface="+mn-lt"/>
              </a:rPr>
              <a:t>Output is </a:t>
            </a:r>
            <a:r>
              <a:rPr lang="en-US" sz="2400" b="1">
                <a:ea typeface="+mn-lt"/>
                <a:cs typeface="+mn-lt"/>
              </a:rPr>
              <a:t>1 only when both inputs are 0</a:t>
            </a:r>
            <a:r>
              <a:rPr lang="en-US" sz="2400">
                <a:ea typeface="+mn-lt"/>
                <a:cs typeface="+mn-lt"/>
              </a:rPr>
              <a:t>.</a:t>
            </a:r>
            <a:endParaRPr lang="en-US"/>
          </a:p>
          <a:p>
            <a:r>
              <a:rPr lang="en-US" sz="2400">
                <a:ea typeface="+mn-lt"/>
                <a:cs typeface="+mn-lt"/>
              </a:rPr>
              <a:t>Expression: (A + B)'</a:t>
            </a:r>
            <a:endParaRPr lang="en-US">
              <a:ea typeface="+mn-lt"/>
              <a:cs typeface="+mn-lt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4A50C01-1DE8-D8AA-52C9-69CEAF982A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308020"/>
              </p:ext>
            </p:extLst>
          </p:nvPr>
        </p:nvGraphicFramePr>
        <p:xfrm>
          <a:off x="4021666" y="3217332"/>
          <a:ext cx="3403427" cy="1828800"/>
        </p:xfrm>
        <a:graphic>
          <a:graphicData uri="http://schemas.openxmlformats.org/drawingml/2006/table">
            <a:tbl>
              <a:tblPr bandRow="1">
                <a:tableStyleId>{BC89EF96-8CEA-46FF-86C4-4CE0E7609802}</a:tableStyleId>
              </a:tblPr>
              <a:tblGrid>
                <a:gridCol w="999208">
                  <a:extLst>
                    <a:ext uri="{9D8B030D-6E8A-4147-A177-3AD203B41FA5}">
                      <a16:colId xmlns:a16="http://schemas.microsoft.com/office/drawing/2014/main" val="3511004112"/>
                    </a:ext>
                  </a:extLst>
                </a:gridCol>
                <a:gridCol w="863898">
                  <a:extLst>
                    <a:ext uri="{9D8B030D-6E8A-4147-A177-3AD203B41FA5}">
                      <a16:colId xmlns:a16="http://schemas.microsoft.com/office/drawing/2014/main" val="1311808526"/>
                    </a:ext>
                  </a:extLst>
                </a:gridCol>
                <a:gridCol w="1540321">
                  <a:extLst>
                    <a:ext uri="{9D8B030D-6E8A-4147-A177-3AD203B41FA5}">
                      <a16:colId xmlns:a16="http://schemas.microsoft.com/office/drawing/2014/main" val="24423764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NOR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07692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97594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92913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9450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4535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604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74322-15CE-C1E9-A54F-1AA8D9944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8DC53-2941-AF06-917A-8F61F9FD4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25798" cy="716446"/>
          </a:xfrm>
        </p:spPr>
        <p:txBody>
          <a:bodyPr/>
          <a:lstStyle/>
          <a:p>
            <a:r>
              <a:rPr lang="en-US" b="1">
                <a:ea typeface="+mj-lt"/>
                <a:cs typeface="+mj-lt"/>
              </a:rPr>
              <a:t>XOR (Exclusive OR)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384ED-91BC-7029-39A3-1B2B031FD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42156"/>
            <a:ext cx="8915400" cy="446906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>
                <a:ea typeface="+mn-lt"/>
                <a:cs typeface="+mn-lt"/>
              </a:rPr>
              <a:t>Output is </a:t>
            </a:r>
            <a:r>
              <a:rPr lang="en-US" sz="2400" b="1">
                <a:ea typeface="+mn-lt"/>
                <a:cs typeface="+mn-lt"/>
              </a:rPr>
              <a:t>1 when inputs are different</a:t>
            </a:r>
            <a:r>
              <a:rPr lang="en-US" sz="2400">
                <a:ea typeface="+mn-lt"/>
                <a:cs typeface="+mn-lt"/>
              </a:rPr>
              <a:t>.</a:t>
            </a:r>
            <a:endParaRPr lang="en-US">
              <a:ea typeface="+mn-lt"/>
              <a:cs typeface="+mn-lt"/>
            </a:endParaRPr>
          </a:p>
          <a:p>
            <a:r>
              <a:rPr lang="en-US" sz="2400">
                <a:ea typeface="+mn-lt"/>
                <a:cs typeface="+mn-lt"/>
              </a:rPr>
              <a:t>Expression: A ⊕ B</a:t>
            </a:r>
            <a:endParaRPr lang="en-US">
              <a:ea typeface="+mn-lt"/>
              <a:cs typeface="+mn-lt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49B0CD4-5945-5536-01F2-5DC22EC7ED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6084026"/>
              </p:ext>
            </p:extLst>
          </p:nvPr>
        </p:nvGraphicFramePr>
        <p:xfrm>
          <a:off x="5108222" y="3090332"/>
          <a:ext cx="3886002" cy="1828800"/>
        </p:xfrm>
        <a:graphic>
          <a:graphicData uri="http://schemas.openxmlformats.org/drawingml/2006/table">
            <a:tbl>
              <a:tblPr bandRow="1">
                <a:tableStyleId>{BC89EF96-8CEA-46FF-86C4-4CE0E7609802}</a:tableStyleId>
              </a:tblPr>
              <a:tblGrid>
                <a:gridCol w="1244600">
                  <a:extLst>
                    <a:ext uri="{9D8B030D-6E8A-4147-A177-3AD203B41FA5}">
                      <a16:colId xmlns:a16="http://schemas.microsoft.com/office/drawing/2014/main" val="2784428596"/>
                    </a:ext>
                  </a:extLst>
                </a:gridCol>
                <a:gridCol w="1201725">
                  <a:extLst>
                    <a:ext uri="{9D8B030D-6E8A-4147-A177-3AD203B41FA5}">
                      <a16:colId xmlns:a16="http://schemas.microsoft.com/office/drawing/2014/main" val="2690129358"/>
                    </a:ext>
                  </a:extLst>
                </a:gridCol>
                <a:gridCol w="1439677">
                  <a:extLst>
                    <a:ext uri="{9D8B030D-6E8A-4147-A177-3AD203B41FA5}">
                      <a16:colId xmlns:a16="http://schemas.microsoft.com/office/drawing/2014/main" val="34204457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XOR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6069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5595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85286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3646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44073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3315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B0721-D3A8-9E05-E2EB-3E64A8EF3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FE278-9209-44F6-39DB-A9CA80B27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XNOR Operation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A154D-5733-1D5E-F91E-86A04C709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710267"/>
            <a:ext cx="8901289" cy="420095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>
                <a:ea typeface="+mn-lt"/>
                <a:cs typeface="+mn-lt"/>
              </a:rPr>
              <a:t>XNOR = NOT(XOR)</a:t>
            </a:r>
            <a:endParaRPr lang="en-US" dirty="0"/>
          </a:p>
          <a:p>
            <a:r>
              <a:rPr lang="en-US" sz="2400">
                <a:ea typeface="+mn-lt"/>
                <a:cs typeface="+mn-lt"/>
              </a:rPr>
              <a:t>Output is </a:t>
            </a:r>
            <a:r>
              <a:rPr lang="en-US" sz="2400" b="1">
                <a:ea typeface="+mn-lt"/>
                <a:cs typeface="+mn-lt"/>
              </a:rPr>
              <a:t>1 when inputs are same</a:t>
            </a:r>
            <a:r>
              <a:rPr lang="en-US" sz="2400">
                <a:ea typeface="+mn-lt"/>
                <a:cs typeface="+mn-lt"/>
              </a:rPr>
              <a:t>.</a:t>
            </a:r>
            <a:endParaRPr lang="en-US"/>
          </a:p>
          <a:p>
            <a:r>
              <a:rPr lang="en-US" sz="2400">
                <a:ea typeface="+mn-lt"/>
                <a:cs typeface="+mn-lt"/>
              </a:rPr>
              <a:t>Expression: (A ⊕ B)'</a:t>
            </a:r>
            <a:endParaRPr lang="en-US"/>
          </a:p>
          <a:p>
            <a:endParaRPr lang="en-US" sz="2400" dirty="0"/>
          </a:p>
          <a:p>
            <a:endParaRPr lang="en-US" sz="2400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058C088-DC06-BF7A-DD90-7014A996E8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34630"/>
              </p:ext>
            </p:extLst>
          </p:nvPr>
        </p:nvGraphicFramePr>
        <p:xfrm>
          <a:off x="4120445" y="3812822"/>
          <a:ext cx="3949541" cy="1828800"/>
        </p:xfrm>
        <a:graphic>
          <a:graphicData uri="http://schemas.openxmlformats.org/drawingml/2006/table">
            <a:tbl>
              <a:tblPr bandRow="1">
                <a:tableStyleId>{BC89EF96-8CEA-46FF-86C4-4CE0E7609802}</a:tableStyleId>
              </a:tblPr>
              <a:tblGrid>
                <a:gridCol w="1358900">
                  <a:extLst>
                    <a:ext uri="{9D8B030D-6E8A-4147-A177-3AD203B41FA5}">
                      <a16:colId xmlns:a16="http://schemas.microsoft.com/office/drawing/2014/main" val="4212745446"/>
                    </a:ext>
                  </a:extLst>
                </a:gridCol>
                <a:gridCol w="1130193">
                  <a:extLst>
                    <a:ext uri="{9D8B030D-6E8A-4147-A177-3AD203B41FA5}">
                      <a16:colId xmlns:a16="http://schemas.microsoft.com/office/drawing/2014/main" val="1816068457"/>
                    </a:ext>
                  </a:extLst>
                </a:gridCol>
                <a:gridCol w="1460448">
                  <a:extLst>
                    <a:ext uri="{9D8B030D-6E8A-4147-A177-3AD203B41FA5}">
                      <a16:colId xmlns:a16="http://schemas.microsoft.com/office/drawing/2014/main" val="4440976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XNOR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26464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3875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9679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142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60938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4910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BC7F57-8996-E92D-47C2-F332C3BE5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EE1A71F-2664-4E38-A47B-A6F74A66A5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5A2202-3CDB-4BEB-B357-591207B19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0669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11CA0B-C56C-6F3D-4438-C144098FC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3391" y="624110"/>
            <a:ext cx="9383408" cy="1280890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chemeClr val="bg1"/>
                </a:solidFill>
                <a:ea typeface="+mj-lt"/>
                <a:cs typeface="+mj-lt"/>
              </a:rPr>
              <a:t>Universal Gates</a:t>
            </a:r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3AD441E9-6D75-456C-B0AE-40B2012E17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26202F7-B3B1-2A1A-CD61-B15306FEA6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1974412"/>
              </p:ext>
            </p:extLst>
          </p:nvPr>
        </p:nvGraphicFramePr>
        <p:xfrm>
          <a:off x="1964359" y="2938490"/>
          <a:ext cx="8264834" cy="244316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34313">
                  <a:extLst>
                    <a:ext uri="{9D8B030D-6E8A-4147-A177-3AD203B41FA5}">
                      <a16:colId xmlns:a16="http://schemas.microsoft.com/office/drawing/2014/main" val="2089974400"/>
                    </a:ext>
                  </a:extLst>
                </a:gridCol>
                <a:gridCol w="5830521">
                  <a:extLst>
                    <a:ext uri="{9D8B030D-6E8A-4147-A177-3AD203B41FA5}">
                      <a16:colId xmlns:a16="http://schemas.microsoft.com/office/drawing/2014/main" val="692720767"/>
                    </a:ext>
                  </a:extLst>
                </a:gridCol>
              </a:tblGrid>
              <a:tr h="5527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/>
                        <a:t>Gate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/>
                        <a:t>Why Important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2334111"/>
                  </a:ext>
                </a:extLst>
              </a:tr>
              <a:tr h="8863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NAND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Can build all logic circuits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6351912"/>
                  </a:ext>
                </a:extLst>
              </a:tr>
              <a:tr h="8863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NOR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Can build all logic circuits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9592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4878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BD92B-C346-7406-03E9-568F51220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626C6-DD17-A22E-5EFF-34FAEA2F6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Connection with FSM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D9E19-E352-636C-9D8D-7B3C31624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710267"/>
            <a:ext cx="8901289" cy="420095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>
                <a:ea typeface="+mn-lt"/>
                <a:cs typeface="+mn-lt"/>
              </a:rPr>
              <a:t>FSM Implementation Steps:</a:t>
            </a:r>
            <a:endParaRPr lang="en-US" b="1">
              <a:ea typeface="+mn-lt"/>
              <a:cs typeface="+mn-lt"/>
            </a:endParaRPr>
          </a:p>
          <a:p>
            <a:r>
              <a:rPr lang="en-US" sz="2400">
                <a:ea typeface="+mn-lt"/>
                <a:cs typeface="+mn-lt"/>
              </a:rPr>
              <a:t>State encoding (binary)</a:t>
            </a:r>
            <a:endParaRPr lang="en-US"/>
          </a:p>
          <a:p>
            <a:r>
              <a:rPr lang="en-US" sz="2400">
                <a:ea typeface="+mn-lt"/>
                <a:cs typeface="+mn-lt"/>
              </a:rPr>
              <a:t>Create transition table</a:t>
            </a:r>
            <a:endParaRPr lang="en-US"/>
          </a:p>
          <a:p>
            <a:r>
              <a:rPr lang="en-US" sz="2400">
                <a:ea typeface="+mn-lt"/>
                <a:cs typeface="+mn-lt"/>
              </a:rPr>
              <a:t>Derive Boolean equations</a:t>
            </a:r>
            <a:endParaRPr lang="en-US"/>
          </a:p>
          <a:p>
            <a:r>
              <a:rPr lang="en-US" sz="2400">
                <a:ea typeface="+mn-lt"/>
                <a:cs typeface="+mn-lt"/>
              </a:rPr>
              <a:t>Implement using AND, OR, NOT (or NAND/NOR)</a:t>
            </a:r>
            <a:endParaRPr lang="en-US"/>
          </a:p>
          <a:p>
            <a:pPr marL="0" indent="0">
              <a:buNone/>
            </a:pPr>
            <a:r>
              <a:rPr lang="en-US" sz="2400" b="1">
                <a:ea typeface="+mn-lt"/>
                <a:cs typeface="+mn-lt"/>
              </a:rPr>
              <a:t>So, logic gates are used to implement:</a:t>
            </a:r>
            <a:endParaRPr lang="en-US" b="1">
              <a:ea typeface="+mn-lt"/>
              <a:cs typeface="+mn-lt"/>
            </a:endParaRPr>
          </a:p>
          <a:p>
            <a:r>
              <a:rPr lang="en-US" sz="2400">
                <a:ea typeface="+mn-lt"/>
                <a:cs typeface="+mn-lt"/>
              </a:rPr>
              <a:t>Next state logic</a:t>
            </a:r>
            <a:endParaRPr lang="en-US"/>
          </a:p>
          <a:p>
            <a:r>
              <a:rPr lang="en-US" sz="2400">
                <a:ea typeface="+mn-lt"/>
                <a:cs typeface="+mn-lt"/>
              </a:rPr>
              <a:t>Output logic</a:t>
            </a:r>
            <a:endParaRPr lang="en-US"/>
          </a:p>
          <a:p>
            <a:endParaRPr lang="en-US" sz="24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59668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36C84-818D-A0D4-1D25-452D08551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97A75-E77E-6D24-52B4-969D0E0FE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7703" y="313666"/>
            <a:ext cx="9066909" cy="645890"/>
          </a:xfrm>
        </p:spPr>
        <p:txBody>
          <a:bodyPr/>
          <a:lstStyle/>
          <a:p>
            <a:r>
              <a:rPr lang="en-US" b="1">
                <a:ea typeface="+mj-lt"/>
                <a:cs typeface="+mj-lt"/>
              </a:rPr>
              <a:t>Summary 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92A58-2333-F9B5-926C-1F36C58A0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962379"/>
            <a:ext cx="8901289" cy="5259287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2000" b="1">
                <a:solidFill>
                  <a:srgbClr val="000000"/>
                </a:solidFill>
                <a:ea typeface="+mn-lt"/>
                <a:cs typeface="+mn-lt"/>
              </a:rPr>
              <a:t>Basic Operations:</a:t>
            </a:r>
            <a:endParaRPr lang="en-US" b="1">
              <a:ea typeface="+mn-lt"/>
              <a:cs typeface="+mn-lt"/>
            </a:endParaRPr>
          </a:p>
          <a:p>
            <a:pPr>
              <a:buFont typeface="Wingdings 3"/>
              <a:buChar char=""/>
            </a:pP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AND</a:t>
            </a:r>
            <a:endParaRPr lang="en-US"/>
          </a:p>
          <a:p>
            <a:pPr>
              <a:buFont typeface="Wingdings 3"/>
              <a:buChar char=""/>
            </a:pP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OR</a:t>
            </a:r>
            <a:endParaRPr lang="en-US"/>
          </a:p>
          <a:p>
            <a:pPr>
              <a:buFont typeface="Wingdings 3"/>
              <a:buChar char=""/>
            </a:pP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NOT</a:t>
            </a:r>
            <a:endParaRPr lang="en-US" dirty="0">
              <a:solidFill>
                <a:srgbClr val="40404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000" b="1">
                <a:solidFill>
                  <a:srgbClr val="000000"/>
                </a:solidFill>
                <a:ea typeface="+mn-lt"/>
                <a:cs typeface="+mn-lt"/>
              </a:rPr>
              <a:t>Derived</a:t>
            </a:r>
            <a:r>
              <a:rPr lang="en-US" sz="2000" b="1" dirty="0">
                <a:solidFill>
                  <a:srgbClr val="000000"/>
                </a:solidFill>
                <a:ea typeface="+mn-lt"/>
                <a:cs typeface="+mn-lt"/>
              </a:rPr>
              <a:t> Operations:</a:t>
            </a:r>
            <a:endParaRPr lang="en-US" b="1">
              <a:ea typeface="+mn-lt"/>
              <a:cs typeface="+mn-lt"/>
            </a:endParaRPr>
          </a:p>
          <a:p>
            <a:pPr>
              <a:buFont typeface="Wingdings 3"/>
              <a:buChar char=""/>
            </a:pP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NAND</a:t>
            </a:r>
            <a:endParaRPr lang="en-US"/>
          </a:p>
          <a:p>
            <a:pPr>
              <a:buFont typeface="Wingdings 3"/>
              <a:buChar char=""/>
            </a:pP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NOR</a:t>
            </a:r>
            <a:endParaRPr lang="en-US"/>
          </a:p>
          <a:p>
            <a:pPr>
              <a:buFont typeface="Wingdings 3"/>
              <a:buChar char=""/>
            </a:pP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XOR</a:t>
            </a:r>
            <a:endParaRPr lang="en-US"/>
          </a:p>
          <a:p>
            <a:pPr>
              <a:buFont typeface="Wingdings 3"/>
              <a:buChar char=""/>
            </a:pP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XNOR</a:t>
            </a:r>
            <a:endParaRPr lang="en-US">
              <a:solidFill>
                <a:srgbClr val="40404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000" b="1">
                <a:solidFill>
                  <a:srgbClr val="000000"/>
                </a:solidFill>
                <a:ea typeface="+mn-lt"/>
                <a:cs typeface="+mn-lt"/>
              </a:rPr>
              <a:t>These are the foundation of:</a:t>
            </a:r>
            <a:endParaRPr lang="en-US">
              <a:ea typeface="+mn-lt"/>
              <a:cs typeface="+mn-lt"/>
            </a:endParaRPr>
          </a:p>
          <a:p>
            <a:pPr>
              <a:buFont typeface="Wingdings 3"/>
              <a:buChar char=""/>
            </a:pP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Digital Circuits</a:t>
            </a:r>
            <a:endParaRPr lang="en-US"/>
          </a:p>
          <a:p>
            <a:pPr>
              <a:buFont typeface="Wingdings 3"/>
              <a:buChar char=""/>
            </a:pP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FSM Hardware Implementation</a:t>
            </a:r>
            <a:endParaRPr lang="en-US"/>
          </a:p>
          <a:p>
            <a:pPr>
              <a:buFont typeface="Wingdings 3"/>
              <a:buChar char=""/>
            </a:pP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Sequential Systems</a:t>
            </a:r>
            <a:endParaRPr lang="en-US"/>
          </a:p>
          <a:p>
            <a:pPr marL="0" indent="0">
              <a:spcBef>
                <a:spcPts val="0"/>
              </a:spcBef>
              <a:buNone/>
            </a:pPr>
            <a:endParaRPr lang="en-US" sz="2000" b="1" dirty="0">
              <a:solidFill>
                <a:srgbClr val="000000"/>
              </a:solidFill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7412906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08AFB-F080-02E2-205A-67ECE4374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593A7-41A3-F5BA-94A8-4259DF721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341888"/>
            <a:ext cx="8911687" cy="702335"/>
          </a:xfrm>
        </p:spPr>
        <p:txBody>
          <a:bodyPr/>
          <a:lstStyle/>
          <a:p>
            <a:r>
              <a:rPr lang="en-US" b="1">
                <a:ea typeface="+mj-lt"/>
                <a:cs typeface="+mj-lt"/>
              </a:rPr>
              <a:t>Introduction to FSM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CDC89-4E94-D3EB-06AB-49D70D3D8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047046"/>
            <a:ext cx="8901289" cy="4864176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2000">
                <a:solidFill>
                  <a:srgbClr val="404040"/>
                </a:solidFill>
                <a:ea typeface="+mn-lt"/>
                <a:cs typeface="+mn-lt"/>
              </a:rPr>
              <a:t>A </a:t>
            </a:r>
            <a:r>
              <a:rPr lang="en-US" sz="2000" b="1">
                <a:solidFill>
                  <a:srgbClr val="404040"/>
                </a:solidFill>
                <a:ea typeface="+mn-lt"/>
                <a:cs typeface="+mn-lt"/>
              </a:rPr>
              <a:t>Finite State Machine (FSM)</a:t>
            </a:r>
            <a:r>
              <a:rPr lang="en-US" sz="2000">
                <a:solidFill>
                  <a:srgbClr val="404040"/>
                </a:solidFill>
                <a:ea typeface="+mn-lt"/>
                <a:cs typeface="+mn-lt"/>
              </a:rPr>
              <a:t> is a </a:t>
            </a:r>
            <a:r>
              <a:rPr lang="en-US" sz="2000" b="1">
                <a:solidFill>
                  <a:srgbClr val="404040"/>
                </a:solidFill>
                <a:ea typeface="+mn-lt"/>
                <a:cs typeface="+mn-lt"/>
              </a:rPr>
              <a:t>mathematical model of a system</a:t>
            </a:r>
            <a:r>
              <a:rPr lang="en-US" sz="2000" dirty="0">
                <a:solidFill>
                  <a:srgbClr val="404040"/>
                </a:solidFill>
                <a:ea typeface="+mn-lt"/>
                <a:cs typeface="+mn-lt"/>
              </a:rPr>
              <a:t> </a:t>
            </a:r>
            <a:r>
              <a:rPr lang="en-US" sz="2000">
                <a:solidFill>
                  <a:srgbClr val="404040"/>
                </a:solidFill>
                <a:ea typeface="+mn-lt"/>
                <a:cs typeface="+mn-lt"/>
              </a:rPr>
              <a:t>with:</a:t>
            </a:r>
            <a:endParaRPr lang="en-US" sz="2000">
              <a:ea typeface="+mn-lt"/>
              <a:cs typeface="+mn-lt"/>
            </a:endParaRPr>
          </a:p>
          <a:p>
            <a:pPr>
              <a:buFont typeface="Wingdings 3"/>
              <a:buChar char=""/>
            </a:pPr>
            <a:r>
              <a:rPr lang="en-US" sz="2000" b="1">
                <a:solidFill>
                  <a:srgbClr val="404040"/>
                </a:solidFill>
                <a:ea typeface="+mn-lt"/>
                <a:cs typeface="+mn-lt"/>
              </a:rPr>
              <a:t>Finite number of states</a:t>
            </a:r>
            <a:endParaRPr lang="en-US" sz="2000">
              <a:ea typeface="+mn-lt"/>
              <a:cs typeface="+mn-lt"/>
            </a:endParaRPr>
          </a:p>
          <a:p>
            <a:pPr>
              <a:buFont typeface="Wingdings 3"/>
            </a:pPr>
            <a:r>
              <a:rPr lang="en-US" sz="2000" b="1">
                <a:solidFill>
                  <a:srgbClr val="404040"/>
                </a:solidFill>
                <a:ea typeface="+mn-lt"/>
                <a:cs typeface="+mn-lt"/>
              </a:rPr>
              <a:t>Defined transitions</a:t>
            </a:r>
            <a:r>
              <a:rPr lang="en-US" sz="2000">
                <a:solidFill>
                  <a:srgbClr val="404040"/>
                </a:solidFill>
                <a:ea typeface="+mn-lt"/>
                <a:cs typeface="+mn-lt"/>
              </a:rPr>
              <a:t> between states</a:t>
            </a:r>
            <a:endParaRPr lang="en-US" sz="2000">
              <a:ea typeface="+mn-lt"/>
              <a:cs typeface="+mn-lt"/>
            </a:endParaRPr>
          </a:p>
          <a:p>
            <a:pPr>
              <a:buFont typeface="Wingdings 3"/>
            </a:pPr>
            <a:r>
              <a:rPr lang="en-US" sz="2000" b="1" dirty="0">
                <a:solidFill>
                  <a:srgbClr val="404040"/>
                </a:solidFill>
                <a:ea typeface="+mn-lt"/>
                <a:cs typeface="+mn-lt"/>
              </a:rPr>
              <a:t>Events/inputs</a:t>
            </a:r>
            <a:r>
              <a:rPr lang="en-US" sz="2000" dirty="0">
                <a:solidFill>
                  <a:srgbClr val="404040"/>
                </a:solidFill>
                <a:ea typeface="+mn-lt"/>
                <a:cs typeface="+mn-lt"/>
              </a:rPr>
              <a:t> that trigger </a:t>
            </a:r>
            <a:r>
              <a:rPr lang="en-US" sz="2000">
                <a:solidFill>
                  <a:srgbClr val="404040"/>
                </a:solidFill>
                <a:ea typeface="+mn-lt"/>
                <a:cs typeface="+mn-lt"/>
              </a:rPr>
              <a:t>transitions</a:t>
            </a:r>
            <a:endParaRPr lang="en-US" sz="2000" dirty="0">
              <a:solidFill>
                <a:srgbClr val="40404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000" b="1">
                <a:solidFill>
                  <a:srgbClr val="404040"/>
                </a:solidFill>
                <a:ea typeface="+mn-lt"/>
                <a:cs typeface="+mn-lt"/>
              </a:rPr>
              <a:t>Purpose:</a:t>
            </a:r>
            <a:endParaRPr lang="en-US" sz="2000"/>
          </a:p>
          <a:p>
            <a:pPr>
              <a:buFont typeface="Wingdings 3"/>
              <a:buChar char=""/>
            </a:pPr>
            <a:r>
              <a:rPr lang="en-US" sz="2000">
                <a:solidFill>
                  <a:srgbClr val="404040"/>
                </a:solidFill>
                <a:ea typeface="+mn-lt"/>
                <a:cs typeface="+mn-lt"/>
              </a:rPr>
              <a:t>Model system behavior</a:t>
            </a:r>
            <a:endParaRPr lang="en-US" sz="2000"/>
          </a:p>
          <a:p>
            <a:pPr>
              <a:buFont typeface="Wingdings 3"/>
              <a:buChar char=""/>
            </a:pPr>
            <a:r>
              <a:rPr lang="en-US" sz="2000">
                <a:solidFill>
                  <a:srgbClr val="404040"/>
                </a:solidFill>
                <a:ea typeface="+mn-lt"/>
                <a:cs typeface="+mn-lt"/>
              </a:rPr>
              <a:t>Represent sequences of actions</a:t>
            </a:r>
            <a:endParaRPr lang="en-US" sz="2000"/>
          </a:p>
          <a:p>
            <a:pPr>
              <a:buFont typeface="Wingdings 3"/>
              <a:buChar char=""/>
            </a:pPr>
            <a:r>
              <a:rPr lang="en-US" sz="2000">
                <a:solidFill>
                  <a:srgbClr val="404040"/>
                </a:solidFill>
                <a:ea typeface="+mn-lt"/>
                <a:cs typeface="+mn-lt"/>
              </a:rPr>
              <a:t>Verify correctness of designs</a:t>
            </a:r>
            <a:endParaRPr lang="en-US" sz="2000" dirty="0">
              <a:solidFill>
                <a:srgbClr val="40404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000" b="1">
                <a:solidFill>
                  <a:srgbClr val="404040"/>
                </a:solidFill>
                <a:ea typeface="+mn-lt"/>
                <a:cs typeface="+mn-lt"/>
              </a:rPr>
              <a:t>Applications:</a:t>
            </a:r>
            <a:endParaRPr lang="en-US" sz="2000">
              <a:ea typeface="+mn-lt"/>
              <a:cs typeface="+mn-lt"/>
            </a:endParaRPr>
          </a:p>
          <a:p>
            <a:pPr>
              <a:buFont typeface="Wingdings 3"/>
            </a:pPr>
            <a:r>
              <a:rPr lang="en-US" sz="2000">
                <a:solidFill>
                  <a:srgbClr val="404040"/>
                </a:solidFill>
                <a:ea typeface="+mn-lt"/>
                <a:cs typeface="+mn-lt"/>
              </a:rPr>
              <a:t>Traffic lights</a:t>
            </a:r>
            <a:endParaRPr lang="en-US" sz="2000"/>
          </a:p>
          <a:p>
            <a:pPr>
              <a:buFont typeface="Wingdings 3"/>
            </a:pPr>
            <a:r>
              <a:rPr lang="en-US" sz="2000">
                <a:solidFill>
                  <a:srgbClr val="404040"/>
                </a:solidFill>
                <a:ea typeface="+mn-lt"/>
                <a:cs typeface="+mn-lt"/>
              </a:rPr>
              <a:t>Elevators</a:t>
            </a:r>
            <a:endParaRPr lang="en-US" sz="2000"/>
          </a:p>
          <a:p>
            <a:pPr>
              <a:buFont typeface="Wingdings 3"/>
            </a:pPr>
            <a:r>
              <a:rPr lang="en-US" sz="2000">
                <a:solidFill>
                  <a:srgbClr val="404040"/>
                </a:solidFill>
                <a:ea typeface="+mn-lt"/>
                <a:cs typeface="+mn-lt"/>
              </a:rPr>
              <a:t>Communication protocols</a:t>
            </a:r>
            <a:endParaRPr lang="en-US" sz="2000">
              <a:ea typeface="+mn-lt"/>
              <a:cs typeface="+mn-lt"/>
            </a:endParaRPr>
          </a:p>
          <a:p>
            <a:pPr>
              <a:buFont typeface="Wingdings 3"/>
            </a:pPr>
            <a:r>
              <a:rPr lang="en-US" sz="2000">
                <a:solidFill>
                  <a:srgbClr val="404040"/>
                </a:solidFill>
                <a:ea typeface="+mn-lt"/>
                <a:cs typeface="+mn-lt"/>
              </a:rPr>
              <a:t>Software workflows</a:t>
            </a:r>
            <a:endParaRPr lang="en-US" sz="2000"/>
          </a:p>
          <a:p>
            <a:pPr>
              <a:buNone/>
            </a:pPr>
            <a:endParaRPr lang="en-US" sz="2400" dirty="0"/>
          </a:p>
          <a:p>
            <a:pPr marL="0" indent="0">
              <a:buNone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5610885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777CF-C25F-636E-FD4F-D939C9C57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82F0E-97A7-7395-42F9-235A3EDB3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341888"/>
            <a:ext cx="8911687" cy="702335"/>
          </a:xfrm>
        </p:spPr>
        <p:txBody>
          <a:bodyPr/>
          <a:lstStyle/>
          <a:p>
            <a:r>
              <a:rPr lang="en-US" b="1">
                <a:ea typeface="+mj-lt"/>
                <a:cs typeface="+mj-lt"/>
              </a:rPr>
              <a:t>Types of Finite State Machines (FSM)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53835-5ECC-86CC-93DA-529683DAA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047046"/>
            <a:ext cx="8901289" cy="4864176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2400"/>
              <a:t>Finite State Machine consists of:</a:t>
            </a:r>
          </a:p>
          <a:p>
            <a:pPr marL="0" indent="0">
              <a:buNone/>
            </a:pPr>
            <a:r>
              <a:rPr lang="en-US" sz="2400"/>
              <a:t>FSM &amp; FA with output: </a:t>
            </a:r>
            <a:endParaRPr lang="en-US" sz="2400" b="1">
              <a:ea typeface="+mn-lt"/>
              <a:cs typeface="+mn-lt"/>
            </a:endParaRPr>
          </a:p>
          <a:p>
            <a:r>
              <a:rPr lang="en-US" sz="2400" b="1">
                <a:ea typeface="+mn-lt"/>
                <a:cs typeface="+mn-lt"/>
              </a:rPr>
              <a:t>Moore Machine </a:t>
            </a:r>
          </a:p>
          <a:p>
            <a:r>
              <a:rPr lang="en-US" sz="2400" b="1">
                <a:ea typeface="+mn-lt"/>
                <a:cs typeface="+mn-lt"/>
              </a:rPr>
              <a:t>Mealy Machine</a:t>
            </a:r>
            <a:endParaRPr lang="en-US" sz="2400" b="1"/>
          </a:p>
          <a:p>
            <a:pPr marL="0" indent="0">
              <a:buNone/>
            </a:pPr>
            <a:r>
              <a:rPr lang="en-US" sz="2400" dirty="0"/>
              <a:t>FSM &amp; </a:t>
            </a:r>
            <a:r>
              <a:rPr lang="en-US" sz="2400"/>
              <a:t>FA without</a:t>
            </a:r>
            <a:r>
              <a:rPr lang="en-US" sz="2400" dirty="0"/>
              <a:t> output: </a:t>
            </a:r>
          </a:p>
          <a:p>
            <a:r>
              <a:rPr lang="en-US" sz="2400" b="1"/>
              <a:t>Non-Deterministic</a:t>
            </a:r>
            <a:r>
              <a:rPr lang="en-US" sz="2400" b="1">
                <a:ea typeface="+mn-lt"/>
                <a:cs typeface="+mn-lt"/>
              </a:rPr>
              <a:t> Finite (NFA / NFSM)</a:t>
            </a:r>
            <a:endParaRPr lang="en-US" sz="2400">
              <a:ea typeface="+mn-lt"/>
              <a:cs typeface="+mn-lt"/>
            </a:endParaRPr>
          </a:p>
          <a:p>
            <a:r>
              <a:rPr lang="en-US" sz="2400" b="1">
                <a:ea typeface="+mn-lt"/>
                <a:cs typeface="+mn-lt"/>
              </a:rPr>
              <a:t>Deterministic Finite (DFA / DFSM) </a:t>
            </a:r>
            <a:endParaRPr lang="en-US" sz="2400">
              <a:ea typeface="+mn-lt"/>
              <a:cs typeface="+mn-lt"/>
            </a:endParaRPr>
          </a:p>
          <a:p>
            <a:r>
              <a:rPr lang="en-US" sz="2400" b="1">
                <a:ea typeface="+mn-lt"/>
                <a:cs typeface="+mn-lt"/>
              </a:rPr>
              <a:t>Epsilon NFA (ε-NFA)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0574263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78B42-9018-765E-7684-9E587BC80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4AA4C-84FD-19EF-30AD-6302B415F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Components of FSM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2DC8B-1C9D-F717-3386-FC915FDC0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399823"/>
            <a:ext cx="8901289" cy="451139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>
                <a:ea typeface="+mn-lt"/>
                <a:cs typeface="+mn-lt"/>
              </a:rPr>
              <a:t>An FSM consists of 5 main components:</a:t>
            </a:r>
            <a:endParaRPr lang="en-US"/>
          </a:p>
          <a:p>
            <a:r>
              <a:rPr lang="en-US" sz="2400">
                <a:ea typeface="+mn-lt"/>
                <a:cs typeface="+mn-lt"/>
              </a:rPr>
              <a:t>Formal notation: </a:t>
            </a:r>
            <a:r>
              <a:rPr lang="en-US" sz="2400" b="1">
                <a:ea typeface="+mn-lt"/>
                <a:cs typeface="+mn-lt"/>
              </a:rPr>
              <a:t>M = (Q, Σ, δ, q₀, F)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endParaRPr lang="en-US" sz="2400" dirty="0">
              <a:ea typeface="+mn-lt"/>
              <a:cs typeface="+mn-lt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2F50396-A014-8484-7680-77092138D5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9899930"/>
              </p:ext>
            </p:extLst>
          </p:nvPr>
        </p:nvGraphicFramePr>
        <p:xfrm>
          <a:off x="2751667" y="2543387"/>
          <a:ext cx="8585119" cy="21945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136900">
                  <a:extLst>
                    <a:ext uri="{9D8B030D-6E8A-4147-A177-3AD203B41FA5}">
                      <a16:colId xmlns:a16="http://schemas.microsoft.com/office/drawing/2014/main" val="460107253"/>
                    </a:ext>
                  </a:extLst>
                </a:gridCol>
                <a:gridCol w="5448219">
                  <a:extLst>
                    <a:ext uri="{9D8B030D-6E8A-4147-A177-3AD203B41FA5}">
                      <a16:colId xmlns:a16="http://schemas.microsoft.com/office/drawing/2014/main" val="31003242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Description</a:t>
                      </a:r>
                      <a:endParaRPr lang="en-US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047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States (Q)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Set of all possible states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5476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Input Alphabet (</a:t>
                      </a:r>
                      <a:r>
                        <a:rPr lang="el-GR" b="1"/>
                        <a:t>Σ)</a:t>
                      </a:r>
                      <a:endParaRPr lang="el-G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Set of possible inputs/events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5313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Transition Function (</a:t>
                      </a:r>
                      <a:r>
                        <a:rPr lang="el-GR" b="1"/>
                        <a:t>δ)</a:t>
                      </a:r>
                      <a:endParaRPr lang="el-G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Rules that define how states change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88749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Initial State (q₀)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The starting state of the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936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Final/Accepting States (F)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Optional; goal or termination states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58381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94218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2EBBF-72F5-F999-A5F5-D92D416F6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2BF94-2BCB-1057-08C0-A0BD9F61F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States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6E7E3-3CCF-4C48-5085-3CB97DABA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56268"/>
            <a:ext cx="8901289" cy="4454954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buFont typeface="Wingdings 3"/>
              <a:buChar char=""/>
            </a:pPr>
            <a:r>
              <a:rPr lang="en-US" sz="2400" dirty="0">
                <a:ea typeface="+mn-lt"/>
                <a:cs typeface="+mn-lt"/>
              </a:rPr>
              <a:t>A </a:t>
            </a:r>
            <a:r>
              <a:rPr lang="en-US" sz="2400" b="1" dirty="0">
                <a:ea typeface="+mn-lt"/>
                <a:cs typeface="+mn-lt"/>
              </a:rPr>
              <a:t>state</a:t>
            </a:r>
            <a:r>
              <a:rPr lang="en-US" sz="2400" dirty="0">
                <a:ea typeface="+mn-lt"/>
                <a:cs typeface="+mn-lt"/>
              </a:rPr>
              <a:t> represents a specific condition of a system at a given time.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400" b="1">
                <a:ea typeface="+mn-lt"/>
                <a:cs typeface="+mn-lt"/>
              </a:rPr>
              <a:t>Key Points:</a:t>
            </a:r>
            <a:endParaRPr lang="en-US"/>
          </a:p>
          <a:p>
            <a:pPr>
              <a:buFont typeface="Wingdings 3"/>
              <a:buChar char=""/>
            </a:pPr>
            <a:r>
              <a:rPr lang="en-US" sz="2400">
                <a:ea typeface="+mn-lt"/>
                <a:cs typeface="+mn-lt"/>
              </a:rPr>
              <a:t>Only </a:t>
            </a:r>
            <a:r>
              <a:rPr lang="en-US" sz="2400" b="1">
                <a:ea typeface="+mn-lt"/>
                <a:cs typeface="+mn-lt"/>
              </a:rPr>
              <a:t>one state active at a time</a:t>
            </a:r>
            <a:endParaRPr lang="en-US"/>
          </a:p>
          <a:p>
            <a:pPr>
              <a:buFont typeface="Wingdings 3"/>
              <a:buChar char=""/>
            </a:pPr>
            <a:r>
              <a:rPr lang="en-US" sz="2400">
                <a:ea typeface="+mn-lt"/>
                <a:cs typeface="+mn-lt"/>
              </a:rPr>
              <a:t>Can be </a:t>
            </a:r>
            <a:r>
              <a:rPr lang="en-US" sz="2400" b="1">
                <a:ea typeface="+mn-lt"/>
                <a:cs typeface="+mn-lt"/>
              </a:rPr>
              <a:t>start, intermediate, or final</a:t>
            </a:r>
            <a:endParaRPr lang="en-US"/>
          </a:p>
          <a:p>
            <a:pPr marL="0" indent="0">
              <a:buNone/>
            </a:pPr>
            <a:r>
              <a:rPr lang="en-US" sz="2400" b="1">
                <a:ea typeface="+mn-lt"/>
                <a:cs typeface="+mn-lt"/>
              </a:rPr>
              <a:t>Example:</a:t>
            </a:r>
            <a:r>
              <a:rPr lang="en-US" sz="2400">
                <a:ea typeface="+mn-lt"/>
                <a:cs typeface="+mn-lt"/>
              </a:rPr>
              <a:t> ATM Machine States</a:t>
            </a:r>
            <a:endParaRPr lang="en-US"/>
          </a:p>
          <a:p>
            <a:pPr>
              <a:buFont typeface="Wingdings 3"/>
              <a:buChar char=""/>
            </a:pPr>
            <a:r>
              <a:rPr lang="en-US" sz="2400">
                <a:ea typeface="+mn-lt"/>
                <a:cs typeface="+mn-lt"/>
              </a:rPr>
              <a:t>Idle</a:t>
            </a:r>
            <a:endParaRPr lang="en-US"/>
          </a:p>
          <a:p>
            <a:pPr>
              <a:buFont typeface="Wingdings 3"/>
              <a:buChar char=""/>
            </a:pPr>
            <a:r>
              <a:rPr lang="en-US" sz="2400">
                <a:ea typeface="+mn-lt"/>
                <a:cs typeface="+mn-lt"/>
              </a:rPr>
              <a:t>Card Inserted</a:t>
            </a:r>
            <a:endParaRPr lang="en-US"/>
          </a:p>
          <a:p>
            <a:pPr>
              <a:buFont typeface="Wingdings 3"/>
              <a:buChar char=""/>
            </a:pPr>
            <a:r>
              <a:rPr lang="en-US" sz="2400">
                <a:ea typeface="+mn-lt"/>
                <a:cs typeface="+mn-lt"/>
              </a:rPr>
              <a:t>Processing</a:t>
            </a:r>
            <a:endParaRPr lang="en-US"/>
          </a:p>
          <a:p>
            <a:pPr>
              <a:buFont typeface="Wingdings 3"/>
            </a:pPr>
            <a:r>
              <a:rPr lang="en-US" sz="2400">
                <a:ea typeface="+mn-lt"/>
                <a:cs typeface="+mn-lt"/>
              </a:rPr>
              <a:t>Transaction Complete</a:t>
            </a:r>
            <a:endParaRPr lang="en-US"/>
          </a:p>
          <a:p>
            <a:pPr>
              <a:buFont typeface="Wingdings 3"/>
              <a:buChar char="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2708235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6CC4A-A10F-3948-FAC7-2948ECE53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34BD0-9E90-55A1-5907-96FA92852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15224"/>
          </a:xfrm>
        </p:spPr>
        <p:txBody>
          <a:bodyPr/>
          <a:lstStyle/>
          <a:p>
            <a:r>
              <a:rPr lang="en-US" b="1">
                <a:ea typeface="+mj-lt"/>
                <a:cs typeface="+mj-lt"/>
              </a:rPr>
              <a:t>Events / Inputs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ED453-DCA4-A6F2-8DD8-23B20563A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710267"/>
            <a:ext cx="8901289" cy="420095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 3"/>
              <a:buChar char=""/>
            </a:pPr>
            <a:r>
              <a:rPr lang="en-US" sz="2400">
                <a:ea typeface="+mn-lt"/>
                <a:cs typeface="+mn-lt"/>
              </a:rPr>
              <a:t>Events or inputs trigger transitions between states.</a:t>
            </a:r>
            <a:endParaRPr lang="en-US"/>
          </a:p>
          <a:p>
            <a:pPr marL="0" indent="0">
              <a:buNone/>
            </a:pPr>
            <a:r>
              <a:rPr lang="en-US" sz="2400" b="1">
                <a:ea typeface="+mn-lt"/>
                <a:cs typeface="+mn-lt"/>
              </a:rPr>
              <a:t>Examples:</a:t>
            </a:r>
            <a:endParaRPr lang="en-US" b="1">
              <a:ea typeface="+mn-lt"/>
              <a:cs typeface="+mn-lt"/>
            </a:endParaRPr>
          </a:p>
          <a:p>
            <a:pPr>
              <a:buFont typeface="Wingdings 3"/>
              <a:buChar char=""/>
            </a:pPr>
            <a:r>
              <a:rPr lang="en-US" sz="2400">
                <a:ea typeface="+mn-lt"/>
                <a:cs typeface="+mn-lt"/>
              </a:rPr>
              <a:t>Timer expires</a:t>
            </a:r>
            <a:endParaRPr lang="en-US"/>
          </a:p>
          <a:p>
            <a:pPr>
              <a:buFont typeface="Wingdings 3"/>
              <a:buChar char=""/>
            </a:pPr>
            <a:r>
              <a:rPr lang="en-US" sz="2400">
                <a:ea typeface="+mn-lt"/>
                <a:cs typeface="+mn-lt"/>
              </a:rPr>
              <a:t>Button pressed</a:t>
            </a:r>
            <a:endParaRPr lang="en-US"/>
          </a:p>
          <a:p>
            <a:pPr>
              <a:buFont typeface="Wingdings 3"/>
              <a:buChar char=""/>
            </a:pPr>
            <a:r>
              <a:rPr lang="en-US" sz="2400">
                <a:ea typeface="+mn-lt"/>
                <a:cs typeface="+mn-lt"/>
              </a:rPr>
              <a:t>Coin inserted</a:t>
            </a:r>
            <a:endParaRPr lang="en-US"/>
          </a:p>
          <a:p>
            <a:pPr>
              <a:buFont typeface="Wingdings 3"/>
              <a:buChar char=""/>
            </a:pPr>
            <a:r>
              <a:rPr lang="en-US" sz="2400">
                <a:ea typeface="+mn-lt"/>
                <a:cs typeface="+mn-lt"/>
              </a:rPr>
              <a:t>Data received</a:t>
            </a:r>
            <a:endParaRPr lang="en-US"/>
          </a:p>
          <a:p>
            <a:pPr marL="0" indent="0">
              <a:buNone/>
            </a:pPr>
            <a:r>
              <a:rPr lang="en-US" sz="2400" b="1">
                <a:ea typeface="+mn-lt"/>
                <a:cs typeface="+mn-lt"/>
              </a:rPr>
              <a:t>Representation:</a:t>
            </a:r>
            <a:endParaRPr lang="en-US" b="1">
              <a:ea typeface="+mn-lt"/>
              <a:cs typeface="+mn-lt"/>
            </a:endParaRPr>
          </a:p>
          <a:p>
            <a:pPr>
              <a:buFont typeface="Wingdings 3"/>
              <a:buChar char=""/>
            </a:pPr>
            <a:r>
              <a:rPr lang="en-US" sz="2400">
                <a:ea typeface="+mn-lt"/>
                <a:cs typeface="+mn-lt"/>
              </a:rPr>
              <a:t>Usually symbolic (A, B, Timer, etc.)</a:t>
            </a:r>
            <a:endParaRPr lang="en-US"/>
          </a:p>
          <a:p>
            <a:pPr>
              <a:buFont typeface="Wingdings 3"/>
              <a:buChar char="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70360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9E4A6-223B-021A-2CDD-EC777A1A3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368EE-EE24-D130-A672-A7F4D2EBE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72891"/>
          </a:xfrm>
        </p:spPr>
        <p:txBody>
          <a:bodyPr/>
          <a:lstStyle/>
          <a:p>
            <a:r>
              <a:rPr lang="en-US" b="1">
                <a:ea typeface="+mj-lt"/>
                <a:cs typeface="+mj-lt"/>
              </a:rPr>
              <a:t>Transitions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3BF4A-4BB8-F2E8-C9E1-250CABB19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12712"/>
            <a:ext cx="8901289" cy="439851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 3"/>
              <a:buChar char=""/>
            </a:pPr>
            <a:r>
              <a:rPr lang="en-US" sz="2400">
                <a:ea typeface="+mn-lt"/>
                <a:cs typeface="+mn-lt"/>
              </a:rPr>
              <a:t>A </a:t>
            </a:r>
            <a:r>
              <a:rPr lang="en-US" sz="2400" b="1">
                <a:ea typeface="+mn-lt"/>
                <a:cs typeface="+mn-lt"/>
              </a:rPr>
              <a:t>transition</a:t>
            </a:r>
            <a:r>
              <a:rPr lang="en-US" sz="2400">
                <a:ea typeface="+mn-lt"/>
                <a:cs typeface="+mn-lt"/>
              </a:rPr>
              <a:t> is the movement from one state to another based on an input.</a:t>
            </a:r>
          </a:p>
          <a:p>
            <a:pPr>
              <a:buFont typeface="Wingdings 3"/>
              <a:buChar char=""/>
            </a:pPr>
            <a:r>
              <a:rPr lang="en-US" sz="2400" b="1">
                <a:ea typeface="+mn-lt"/>
                <a:cs typeface="+mn-lt"/>
              </a:rPr>
              <a:t>Notation: </a:t>
            </a:r>
            <a:endParaRPr lang="en-US" sz="2400" b="1" dirty="0">
              <a:ea typeface="+mn-lt"/>
              <a:cs typeface="+mn-lt"/>
            </a:endParaRPr>
          </a:p>
          <a:p>
            <a:pPr marL="0" indent="0" algn="ctr">
              <a:buNone/>
            </a:pPr>
            <a:r>
              <a:rPr lang="en-US" sz="2400" b="1">
                <a:ea typeface="+mn-lt"/>
                <a:cs typeface="+mn-lt"/>
              </a:rPr>
              <a:t>Current State + Input → Next State</a:t>
            </a:r>
          </a:p>
          <a:p>
            <a:r>
              <a:rPr lang="en-US" sz="2400" b="1">
                <a:ea typeface="+mn-lt"/>
                <a:cs typeface="+mn-lt"/>
              </a:rPr>
              <a:t>Example (ATM):</a:t>
            </a:r>
            <a:endParaRPr lang="en-US" b="1"/>
          </a:p>
          <a:p>
            <a:pPr algn="ctr">
              <a:buNone/>
            </a:pPr>
            <a:r>
              <a:rPr lang="en-US" sz="2400" b="1">
                <a:ea typeface="+mn-lt"/>
                <a:cs typeface="+mn-lt"/>
              </a:rPr>
              <a:t>Idle + Insert Card → Card Inserted</a:t>
            </a:r>
            <a:endParaRPr lang="en-US" b="1"/>
          </a:p>
          <a:p>
            <a:pPr algn="ctr">
              <a:buNone/>
            </a:pPr>
            <a:r>
              <a:rPr lang="en-US" sz="2400" b="1">
                <a:ea typeface="+mn-lt"/>
                <a:cs typeface="+mn-lt"/>
              </a:rPr>
              <a:t>Card Inserted + Enter PIN → Processing</a:t>
            </a:r>
            <a:endParaRPr lang="en-US" b="1"/>
          </a:p>
          <a:p>
            <a:pPr marL="0" indent="0">
              <a:buNone/>
            </a:pPr>
            <a:endParaRPr lang="en-US" sz="2400" b="1" dirty="0"/>
          </a:p>
          <a:p>
            <a:pPr>
              <a:buFont typeface="Wingdings 3"/>
              <a:buChar char="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8006949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10E14-FC21-ADA7-EF07-E64038BF9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49B7F-A0EF-CB73-E5CF-26B45259E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Initial and Final States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10B87-AD20-BC64-1EB1-ED095BCF9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710267"/>
            <a:ext cx="8901289" cy="420095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>
                <a:ea typeface="+mn-lt"/>
                <a:cs typeface="+mn-lt"/>
              </a:rPr>
              <a:t>Initial State (q₀):</a:t>
            </a:r>
            <a:endParaRPr lang="en-US"/>
          </a:p>
          <a:p>
            <a:pPr>
              <a:buFont typeface="Wingdings 3"/>
              <a:buChar char=""/>
            </a:pPr>
            <a:r>
              <a:rPr lang="en-US" sz="2400">
                <a:ea typeface="+mn-lt"/>
                <a:cs typeface="+mn-lt"/>
              </a:rPr>
              <a:t>Where the FSM </a:t>
            </a:r>
            <a:r>
              <a:rPr lang="en-US" sz="2400" b="1">
                <a:ea typeface="+mn-lt"/>
                <a:cs typeface="+mn-lt"/>
              </a:rPr>
              <a:t>starts</a:t>
            </a:r>
            <a:endParaRPr lang="en-US"/>
          </a:p>
          <a:p>
            <a:pPr>
              <a:buFont typeface="Wingdings 3"/>
              <a:buChar char=""/>
            </a:pPr>
            <a:r>
              <a:rPr lang="en-US" sz="2400" b="1">
                <a:ea typeface="+mn-lt"/>
                <a:cs typeface="+mn-lt"/>
              </a:rPr>
              <a:t>Example: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>
                <a:latin typeface="Consolas"/>
                <a:ea typeface="+mn-lt"/>
                <a:cs typeface="+mn-lt"/>
              </a:rPr>
              <a:t>Idle</a:t>
            </a:r>
            <a:r>
              <a:rPr lang="en-US" sz="2400">
                <a:ea typeface="+mn-lt"/>
                <a:cs typeface="+mn-lt"/>
              </a:rPr>
              <a:t> for ATM</a:t>
            </a:r>
            <a:endParaRPr lang="en-US"/>
          </a:p>
          <a:p>
            <a:pPr marL="0" indent="0">
              <a:buNone/>
            </a:pPr>
            <a:r>
              <a:rPr lang="en-US" sz="2400" b="1">
                <a:ea typeface="+mn-lt"/>
                <a:cs typeface="+mn-lt"/>
              </a:rPr>
              <a:t>Final / Accepting States (F):</a:t>
            </a:r>
            <a:endParaRPr lang="en-US"/>
          </a:p>
          <a:p>
            <a:pPr>
              <a:buFont typeface="Wingdings 3"/>
              <a:buChar char=""/>
            </a:pPr>
            <a:r>
              <a:rPr lang="en-US" sz="2400">
                <a:ea typeface="+mn-lt"/>
                <a:cs typeface="+mn-lt"/>
              </a:rPr>
              <a:t>Where FSM </a:t>
            </a:r>
            <a:r>
              <a:rPr lang="en-US" sz="2400" b="1">
                <a:ea typeface="+mn-lt"/>
                <a:cs typeface="+mn-lt"/>
              </a:rPr>
              <a:t>stops or completes</a:t>
            </a:r>
            <a:endParaRPr lang="en-US"/>
          </a:p>
          <a:p>
            <a:pPr>
              <a:buFont typeface="Wingdings 3"/>
              <a:buChar char=""/>
            </a:pPr>
            <a:r>
              <a:rPr lang="en-US" sz="2400" b="1">
                <a:ea typeface="+mn-lt"/>
                <a:cs typeface="+mn-lt"/>
              </a:rPr>
              <a:t>Example: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>
                <a:latin typeface="Consolas"/>
                <a:ea typeface="+mn-lt"/>
                <a:cs typeface="+mn-lt"/>
              </a:rPr>
              <a:t>Transaction Complete</a:t>
            </a:r>
            <a:r>
              <a:rPr lang="en-US" sz="2400">
                <a:ea typeface="+mn-lt"/>
                <a:cs typeface="+mn-lt"/>
              </a:rPr>
              <a:t> for ATM</a:t>
            </a:r>
            <a:endParaRPr lang="en-US"/>
          </a:p>
          <a:p>
            <a:pPr>
              <a:buFont typeface="Wingdings 3"/>
              <a:buChar char=""/>
            </a:pPr>
            <a:endParaRPr lang="en-US" sz="24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936725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B899F-E496-383A-0147-EAFC5B887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FDF48-278F-5DCB-1657-B6E97E8D8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Representation of FSM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CAF24-A5C1-E87A-7237-8FD4A50654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84490"/>
            <a:ext cx="8901289" cy="442673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400" b="1">
                <a:ea typeface="+mn-lt"/>
                <a:cs typeface="+mn-lt"/>
              </a:rPr>
              <a:t>1. State Diagram</a:t>
            </a:r>
            <a:endParaRPr lang="en-US"/>
          </a:p>
          <a:p>
            <a:pPr>
              <a:buFont typeface="Wingdings 3"/>
              <a:buChar char=""/>
            </a:pPr>
            <a:r>
              <a:rPr lang="en-US" sz="2400">
                <a:ea typeface="+mn-lt"/>
                <a:cs typeface="+mn-lt"/>
              </a:rPr>
              <a:t>Circles → States</a:t>
            </a:r>
            <a:endParaRPr lang="en-US"/>
          </a:p>
          <a:p>
            <a:pPr>
              <a:buFont typeface="Wingdings 3"/>
              <a:buChar char=""/>
            </a:pPr>
            <a:r>
              <a:rPr lang="en-US" sz="2400">
                <a:ea typeface="+mn-lt"/>
                <a:cs typeface="+mn-lt"/>
              </a:rPr>
              <a:t>Arrows → Transitions</a:t>
            </a:r>
            <a:endParaRPr lang="en-US"/>
          </a:p>
          <a:p>
            <a:pPr>
              <a:buFont typeface="Wingdings 3"/>
              <a:buChar char=""/>
            </a:pPr>
            <a:r>
              <a:rPr lang="en-US" sz="2400">
                <a:ea typeface="+mn-lt"/>
                <a:cs typeface="+mn-lt"/>
              </a:rPr>
              <a:t>Double circle → Final state</a:t>
            </a:r>
            <a:endParaRPr lang="en-US"/>
          </a:p>
          <a:p>
            <a:pPr marL="0" indent="0">
              <a:buNone/>
            </a:pPr>
            <a:r>
              <a:rPr lang="en-US" sz="2400" b="1">
                <a:ea typeface="+mn-lt"/>
                <a:cs typeface="+mn-lt"/>
              </a:rPr>
              <a:t>2. Transition Table</a:t>
            </a:r>
            <a:endParaRPr lang="en-US" sz="2400" b="1" dirty="0">
              <a:ea typeface="+mn-lt"/>
              <a:cs typeface="+mn-lt"/>
            </a:endParaRPr>
          </a:p>
          <a:p>
            <a:pPr>
              <a:buFont typeface="Wingdings 3"/>
              <a:buChar char=""/>
            </a:pPr>
            <a:endParaRPr lang="en-US" sz="24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400" b="1">
                <a:ea typeface="+mn-lt"/>
                <a:cs typeface="+mn-lt"/>
              </a:rPr>
              <a:t>3. Formal 5-tuple Notation</a:t>
            </a:r>
          </a:p>
          <a:p>
            <a:pPr algn="ctr">
              <a:buNone/>
            </a:pPr>
            <a:r>
              <a:rPr lang="en-US" sz="2400" b="1">
                <a:ea typeface="+mn-lt"/>
                <a:cs typeface="+mn-lt"/>
              </a:rPr>
              <a:t>M = (Q, Σ, δ, q₀, F)</a:t>
            </a:r>
            <a:endParaRPr lang="en-US"/>
          </a:p>
          <a:p>
            <a:pPr marL="0" indent="0">
              <a:buNone/>
            </a:pPr>
            <a:endParaRPr lang="en-US" sz="2400" b="1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277247C-5B44-A8A8-C479-792CE41976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6058267"/>
              </p:ext>
            </p:extLst>
          </p:nvPr>
        </p:nvGraphicFramePr>
        <p:xfrm>
          <a:off x="4318000" y="4050454"/>
          <a:ext cx="4863844" cy="365760"/>
        </p:xfrm>
        <a:graphic>
          <a:graphicData uri="http://schemas.openxmlformats.org/drawingml/2006/table">
            <a:tbl>
              <a:tblPr bandRow="1">
                <a:tableStyleId>{69012ECD-51FC-41F1-AA8D-1B2483CD663E}</a:tableStyleId>
              </a:tblPr>
              <a:tblGrid>
                <a:gridCol w="1739900">
                  <a:extLst>
                    <a:ext uri="{9D8B030D-6E8A-4147-A177-3AD203B41FA5}">
                      <a16:colId xmlns:a16="http://schemas.microsoft.com/office/drawing/2014/main" val="1748789928"/>
                    </a:ext>
                  </a:extLst>
                </a:gridCol>
                <a:gridCol w="1206499">
                  <a:extLst>
                    <a:ext uri="{9D8B030D-6E8A-4147-A177-3AD203B41FA5}">
                      <a16:colId xmlns:a16="http://schemas.microsoft.com/office/drawing/2014/main" val="2232804804"/>
                    </a:ext>
                  </a:extLst>
                </a:gridCol>
                <a:gridCol w="1917445">
                  <a:extLst>
                    <a:ext uri="{9D8B030D-6E8A-4147-A177-3AD203B41FA5}">
                      <a16:colId xmlns:a16="http://schemas.microsoft.com/office/drawing/2014/main" val="28748361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Present State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Next State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608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42954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D67DB-9EAA-3C2D-244A-BB12FF57C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BEFCD-11AC-4FFA-2249-8D7C907A2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1594" y="511222"/>
            <a:ext cx="10238129" cy="730556"/>
          </a:xfrm>
        </p:spPr>
        <p:txBody>
          <a:bodyPr/>
          <a:lstStyle/>
          <a:p>
            <a:r>
              <a:rPr lang="en-US" sz="2800" b="1">
                <a:ea typeface="+mj-lt"/>
                <a:cs typeface="+mj-lt"/>
              </a:rPr>
              <a:t>Traffic Light FSM </a:t>
            </a:r>
            <a:r>
              <a:rPr lang="en-US" sz="2800" b="1" dirty="0">
                <a:solidFill>
                  <a:srgbClr val="404040"/>
                </a:solidFill>
                <a:ea typeface="+mj-lt"/>
                <a:cs typeface="+mj-lt"/>
              </a:rPr>
              <a:t>Problem:</a:t>
            </a:r>
            <a:r>
              <a:rPr lang="en-US" sz="2800" dirty="0">
                <a:solidFill>
                  <a:srgbClr val="404040"/>
                </a:solidFill>
                <a:ea typeface="+mj-lt"/>
                <a:cs typeface="+mj-lt"/>
              </a:rPr>
              <a:t> Model a traffic light with 3 states.</a:t>
            </a:r>
            <a:endParaRPr lang="en-US" sz="2800" b="1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7BC32-A0D4-09D0-D9BB-387EC176C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061157"/>
            <a:ext cx="8901289" cy="485006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400" b="1">
                <a:ea typeface="+mn-lt"/>
                <a:cs typeface="+mn-lt"/>
              </a:rPr>
              <a:t>States (Q):</a:t>
            </a:r>
            <a:endParaRPr lang="en-US"/>
          </a:p>
          <a:p>
            <a:pPr>
              <a:buFont typeface="Wingdings 3"/>
              <a:buChar char=""/>
            </a:pPr>
            <a:r>
              <a:rPr lang="en-US" sz="2400">
                <a:ea typeface="+mn-lt"/>
                <a:cs typeface="+mn-lt"/>
              </a:rPr>
              <a:t>Red</a:t>
            </a:r>
            <a:endParaRPr lang="en-US"/>
          </a:p>
          <a:p>
            <a:pPr>
              <a:buFont typeface="Wingdings 3"/>
              <a:buChar char=""/>
            </a:pPr>
            <a:r>
              <a:rPr lang="en-US" sz="2400">
                <a:ea typeface="+mn-lt"/>
                <a:cs typeface="+mn-lt"/>
              </a:rPr>
              <a:t>Green</a:t>
            </a:r>
            <a:endParaRPr lang="en-US"/>
          </a:p>
          <a:p>
            <a:pPr>
              <a:buFont typeface="Wingdings 3"/>
              <a:buChar char=""/>
            </a:pPr>
            <a:r>
              <a:rPr lang="en-US" sz="2400">
                <a:ea typeface="+mn-lt"/>
                <a:cs typeface="+mn-lt"/>
              </a:rPr>
              <a:t>Yellow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400" b="1">
                <a:ea typeface="+mn-lt"/>
                <a:cs typeface="+mn-lt"/>
              </a:rPr>
              <a:t>Input (Σ):</a:t>
            </a:r>
            <a:endParaRPr lang="en-US"/>
          </a:p>
          <a:p>
            <a:pPr>
              <a:buFont typeface="Wingdings 3"/>
              <a:buChar char=""/>
            </a:pPr>
            <a:r>
              <a:rPr lang="en-US" sz="2400">
                <a:ea typeface="+mn-lt"/>
                <a:cs typeface="+mn-lt"/>
              </a:rPr>
              <a:t>Timer = 1</a:t>
            </a:r>
            <a:endParaRPr lang="en-US"/>
          </a:p>
          <a:p>
            <a:pPr>
              <a:buNone/>
            </a:pPr>
            <a:r>
              <a:rPr lang="en-US" sz="2400" b="1">
                <a:ea typeface="+mn-lt"/>
                <a:cs typeface="+mn-lt"/>
              </a:rPr>
              <a:t>Transition Table:</a:t>
            </a:r>
            <a:endParaRPr lang="en-US" b="1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BF1FA01-95CF-1F5F-0092-A96709225B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1574153"/>
              </p:ext>
            </p:extLst>
          </p:nvPr>
        </p:nvGraphicFramePr>
        <p:xfrm>
          <a:off x="3457222" y="4557888"/>
          <a:ext cx="5079936" cy="166261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97985">
                  <a:extLst>
                    <a:ext uri="{9D8B030D-6E8A-4147-A177-3AD203B41FA5}">
                      <a16:colId xmlns:a16="http://schemas.microsoft.com/office/drawing/2014/main" val="961155477"/>
                    </a:ext>
                  </a:extLst>
                </a:gridCol>
                <a:gridCol w="1108369">
                  <a:extLst>
                    <a:ext uri="{9D8B030D-6E8A-4147-A177-3AD203B41FA5}">
                      <a16:colId xmlns:a16="http://schemas.microsoft.com/office/drawing/2014/main" val="3944456145"/>
                    </a:ext>
                  </a:extLst>
                </a:gridCol>
                <a:gridCol w="1873582">
                  <a:extLst>
                    <a:ext uri="{9D8B030D-6E8A-4147-A177-3AD203B41FA5}">
                      <a16:colId xmlns:a16="http://schemas.microsoft.com/office/drawing/2014/main" val="368014236"/>
                    </a:ext>
                  </a:extLst>
                </a:gridCol>
              </a:tblGrid>
              <a:tr h="415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Present State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Input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Next State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3837499"/>
                  </a:ext>
                </a:extLst>
              </a:tr>
              <a:tr h="415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Green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9552201"/>
                  </a:ext>
                </a:extLst>
              </a:tr>
              <a:tr h="415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Green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Yellow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0670769"/>
                  </a:ext>
                </a:extLst>
              </a:tr>
              <a:tr h="415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Yellow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5637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295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F0B62-EC4F-922E-B81F-4366B023A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64FF9-A63D-7160-15F9-DE9AD7FFE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Deterministic FSM (DFSM / DFA)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30C92-6144-25E6-49C8-7072E6B30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13934"/>
            <a:ext cx="8901289" cy="449728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>
                <a:ea typeface="+mn-lt"/>
                <a:cs typeface="+mn-lt"/>
              </a:rPr>
              <a:t>A DFSM has </a:t>
            </a:r>
            <a:r>
              <a:rPr lang="en-US" sz="2400" b="1">
                <a:ea typeface="+mn-lt"/>
                <a:cs typeface="+mn-lt"/>
              </a:rPr>
              <a:t>exactly one next state</a:t>
            </a:r>
            <a:r>
              <a:rPr lang="en-US" sz="2400">
                <a:ea typeface="+mn-lt"/>
                <a:cs typeface="+mn-lt"/>
              </a:rPr>
              <a:t> for each input in every state.</a:t>
            </a:r>
            <a:endParaRPr lang="en-US"/>
          </a:p>
          <a:p>
            <a:pPr marL="0" indent="0">
              <a:buNone/>
            </a:pPr>
            <a:r>
              <a:rPr lang="en-US" sz="2400" b="1">
                <a:ea typeface="+mn-lt"/>
                <a:cs typeface="+mn-lt"/>
              </a:rPr>
              <a:t>Characteristics:</a:t>
            </a:r>
            <a:endParaRPr lang="en-US" b="1">
              <a:ea typeface="+mn-lt"/>
              <a:cs typeface="+mn-lt"/>
            </a:endParaRPr>
          </a:p>
          <a:p>
            <a:pPr>
              <a:buFont typeface="Wingdings 3"/>
              <a:buChar char=""/>
            </a:pPr>
            <a:r>
              <a:rPr lang="en-US" sz="2400">
                <a:ea typeface="+mn-lt"/>
                <a:cs typeface="+mn-lt"/>
              </a:rPr>
              <a:t>Predictable</a:t>
            </a:r>
            <a:endParaRPr lang="en-US"/>
          </a:p>
          <a:p>
            <a:pPr>
              <a:buFont typeface="Wingdings 3"/>
              <a:buChar char=""/>
            </a:pPr>
            <a:r>
              <a:rPr lang="en-US" sz="2400">
                <a:ea typeface="+mn-lt"/>
                <a:cs typeface="+mn-lt"/>
              </a:rPr>
              <a:t>No ambiguity</a:t>
            </a:r>
            <a:endParaRPr lang="en-US"/>
          </a:p>
          <a:p>
            <a:pPr>
              <a:buFont typeface="Wingdings 3"/>
              <a:buChar char=""/>
            </a:pPr>
            <a:r>
              <a:rPr lang="en-US" sz="2400">
                <a:ea typeface="+mn-lt"/>
                <a:cs typeface="+mn-lt"/>
              </a:rPr>
              <a:t>Simplest Model</a:t>
            </a:r>
            <a:endParaRPr lang="en-US" sz="2400" dirty="0">
              <a:ea typeface="+mn-lt"/>
              <a:cs typeface="+mn-lt"/>
            </a:endParaRPr>
          </a:p>
          <a:p>
            <a:pPr>
              <a:buFont typeface="Wingdings 3"/>
              <a:buChar char=""/>
            </a:pPr>
            <a:r>
              <a:rPr lang="en-US" sz="2400">
                <a:ea typeface="+mn-lt"/>
                <a:cs typeface="+mn-lt"/>
              </a:rPr>
              <a:t>Limited Memory</a:t>
            </a:r>
            <a:endParaRPr lang="en-US" sz="2400" dirty="0">
              <a:ea typeface="+mn-lt"/>
              <a:cs typeface="+mn-lt"/>
            </a:endParaRPr>
          </a:p>
          <a:p>
            <a:pPr>
              <a:buFont typeface="Wingdings 3"/>
              <a:buChar char=""/>
            </a:pPr>
            <a:r>
              <a:rPr lang="en-US" sz="2400">
                <a:ea typeface="+mn-lt"/>
                <a:cs typeface="+mn-lt"/>
              </a:rPr>
              <a:t>Used in software &amp; hardware implementation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400" b="1">
                <a:ea typeface="+mn-lt"/>
                <a:cs typeface="+mn-lt"/>
              </a:rPr>
              <a:t>Formal Rule:</a:t>
            </a:r>
            <a:r>
              <a:rPr lang="en-US" sz="2400">
                <a:ea typeface="+mn-lt"/>
                <a:cs typeface="+mn-lt"/>
              </a:rPr>
              <a:t> δ(q, a) → only one next state</a:t>
            </a:r>
            <a:endParaRPr lang="en-US" sz="2400" dirty="0"/>
          </a:p>
          <a:p>
            <a:pPr>
              <a:buFont typeface="Wingdings 3"/>
              <a:buChar char=""/>
            </a:pPr>
            <a:endParaRPr lang="en-US" sz="24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345741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EDE51-518A-B81D-21A6-1CA4895CC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EDAEE-FAF3-F80E-AC39-1AA9BFF72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29335"/>
          </a:xfrm>
        </p:spPr>
        <p:txBody>
          <a:bodyPr/>
          <a:lstStyle/>
          <a:p>
            <a:r>
              <a:rPr lang="en-US" b="1"/>
              <a:t>Deterministic FSM (DFA)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1305C87-EBA8-C1C6-49EA-11BB9F2C66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62139" y="1893711"/>
            <a:ext cx="5666433" cy="3777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7930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C88D6-0118-F79D-5EEF-114EE8481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F5988-5756-98DF-AECB-AF880BA48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815" y="624110"/>
            <a:ext cx="9645463" cy="829335"/>
          </a:xfrm>
        </p:spPr>
        <p:txBody>
          <a:bodyPr>
            <a:noAutofit/>
          </a:bodyPr>
          <a:lstStyle/>
          <a:p>
            <a:r>
              <a:rPr lang="en-US" sz="3000" b="1">
                <a:ea typeface="+mj-lt"/>
                <a:cs typeface="+mj-lt"/>
              </a:rPr>
              <a:t>Example 1: ATM Machine Authentication System</a:t>
            </a:r>
            <a:endParaRPr lang="en-US" sz="3000" b="1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1EFEA2-3666-712B-58C9-F8FEECEFE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1101" y="1456267"/>
            <a:ext cx="9183511" cy="445495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/>
              <a:t>Scenario:</a:t>
            </a:r>
            <a:endParaRPr lang="en-US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ATM will only allow </a:t>
            </a:r>
            <a:r>
              <a:rPr lang="en-US">
                <a:ea typeface="+mn-lt"/>
                <a:cs typeface="+mn-lt"/>
              </a:rPr>
              <a:t>Cash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r>
              <a:rPr lang="en-US" b="1">
                <a:ea typeface="+mn-lt"/>
                <a:cs typeface="+mn-lt"/>
              </a:rPr>
              <a:t>Card Inserted</a:t>
            </a:r>
            <a:endParaRPr lang="en-US" b="1"/>
          </a:p>
          <a:p>
            <a:r>
              <a:rPr lang="en-US" b="1">
                <a:ea typeface="+mn-lt"/>
                <a:cs typeface="+mn-lt"/>
              </a:rPr>
              <a:t>PIN is Correct</a:t>
            </a:r>
            <a:endParaRPr lang="en-US" b="1"/>
          </a:p>
          <a:p>
            <a:pPr>
              <a:buNone/>
            </a:pPr>
            <a:r>
              <a:rPr lang="en-US" b="1"/>
              <a:t>States</a:t>
            </a:r>
          </a:p>
          <a:p>
            <a:pPr>
              <a:buFont typeface="Wingdings 3"/>
              <a:buChar char=""/>
            </a:pPr>
            <a:r>
              <a:rPr lang="en-US">
                <a:ea typeface="+mn-lt"/>
                <a:cs typeface="+mn-lt"/>
              </a:rPr>
              <a:t>q0 → Idle (no card)</a:t>
            </a:r>
            <a:endParaRPr lang="en-US"/>
          </a:p>
          <a:p>
            <a:pPr>
              <a:buFont typeface="Wingdings 3"/>
              <a:buChar char=""/>
            </a:pPr>
            <a:r>
              <a:rPr lang="en-US">
                <a:ea typeface="+mn-lt"/>
                <a:cs typeface="+mn-lt"/>
              </a:rPr>
              <a:t>q1 → Card inserted</a:t>
            </a:r>
            <a:endParaRPr lang="en-US"/>
          </a:p>
          <a:p>
            <a:pPr>
              <a:buFont typeface="Wingdings 3"/>
              <a:buChar char=""/>
            </a:pPr>
            <a:r>
              <a:rPr lang="en-US">
                <a:ea typeface="+mn-lt"/>
                <a:cs typeface="+mn-lt"/>
              </a:rPr>
              <a:t>q2 → PIN entered</a:t>
            </a:r>
            <a:endParaRPr lang="en-US"/>
          </a:p>
          <a:p>
            <a:pPr>
              <a:buFont typeface="Wingdings 3"/>
              <a:buChar char=""/>
            </a:pPr>
            <a:r>
              <a:rPr lang="en-US">
                <a:ea typeface="+mn-lt"/>
                <a:cs typeface="+mn-lt"/>
              </a:rPr>
              <a:t>q3 → Access granted (Final state)</a:t>
            </a:r>
            <a:endParaRPr lang="en-US"/>
          </a:p>
          <a:p>
            <a:pPr>
              <a:buFont typeface="Wingdings 3"/>
              <a:buChar char=""/>
            </a:pPr>
            <a:r>
              <a:rPr lang="en-US">
                <a:ea typeface="+mn-lt"/>
                <a:cs typeface="+mn-lt"/>
              </a:rPr>
              <a:t>q4 → Blocked</a:t>
            </a:r>
            <a:endParaRPr lang="en-US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43573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36D8A-742F-4292-BABB-4B5DAA9D5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5A334-0B53-2A37-456C-5C26F7539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815" y="624110"/>
            <a:ext cx="9645463" cy="829335"/>
          </a:xfrm>
        </p:spPr>
        <p:txBody>
          <a:bodyPr>
            <a:noAutofit/>
          </a:bodyPr>
          <a:lstStyle/>
          <a:p>
            <a:r>
              <a:rPr lang="en-US" sz="3000" b="1">
                <a:ea typeface="+mj-lt"/>
                <a:cs typeface="+mj-lt"/>
              </a:rPr>
              <a:t>Example 1: ATM Machine Authentication System</a:t>
            </a:r>
            <a:endParaRPr lang="en-US" sz="3000" b="1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8BAD8D-DB70-9A2B-4A6A-8ADA9CBBC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1101" y="1456267"/>
            <a:ext cx="9183511" cy="445495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Alphabet (Inputs)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Σ = { </a:t>
            </a:r>
            <a:r>
              <a:rPr lang="en-US" dirty="0" err="1">
                <a:ea typeface="+mn-lt"/>
                <a:cs typeface="+mn-lt"/>
              </a:rPr>
              <a:t>insert_card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enter_correct_pin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enter_wrong_pin</a:t>
            </a:r>
            <a:r>
              <a:rPr lang="en-US" dirty="0">
                <a:ea typeface="+mn-lt"/>
                <a:cs typeface="+mn-lt"/>
              </a:rPr>
              <a:t>, cancel }</a:t>
            </a:r>
            <a:endParaRPr lang="en-US" dirty="0"/>
          </a:p>
          <a:p>
            <a:pPr>
              <a:buNone/>
            </a:pPr>
            <a:r>
              <a:rPr lang="en-US" b="1"/>
              <a:t>Logic</a:t>
            </a:r>
          </a:p>
          <a:p>
            <a:pPr>
              <a:buFont typeface="Wingdings 3"/>
              <a:buChar char=""/>
            </a:pPr>
            <a:r>
              <a:rPr lang="en-US" dirty="0">
                <a:ea typeface="+mn-lt"/>
                <a:cs typeface="+mn-lt"/>
              </a:rPr>
              <a:t>q0 → </a:t>
            </a:r>
            <a:r>
              <a:rPr lang="en-US" dirty="0" err="1">
                <a:ea typeface="+mn-lt"/>
                <a:cs typeface="+mn-lt"/>
              </a:rPr>
              <a:t>insert_card</a:t>
            </a:r>
            <a:r>
              <a:rPr lang="en-US" dirty="0">
                <a:ea typeface="+mn-lt"/>
                <a:cs typeface="+mn-lt"/>
              </a:rPr>
              <a:t> → q1</a:t>
            </a:r>
            <a:endParaRPr lang="en-US" dirty="0"/>
          </a:p>
          <a:p>
            <a:pPr>
              <a:buFont typeface="Wingdings 3"/>
              <a:buChar char=""/>
            </a:pPr>
            <a:r>
              <a:rPr lang="en-US" dirty="0">
                <a:ea typeface="+mn-lt"/>
                <a:cs typeface="+mn-lt"/>
              </a:rPr>
              <a:t>q1 → </a:t>
            </a:r>
            <a:r>
              <a:rPr lang="en-US" dirty="0" err="1">
                <a:ea typeface="+mn-lt"/>
                <a:cs typeface="+mn-lt"/>
              </a:rPr>
              <a:t>enter_correct_pin</a:t>
            </a:r>
            <a:r>
              <a:rPr lang="en-US" dirty="0">
                <a:ea typeface="+mn-lt"/>
                <a:cs typeface="+mn-lt"/>
              </a:rPr>
              <a:t> → q3</a:t>
            </a:r>
            <a:endParaRPr lang="en-US" dirty="0"/>
          </a:p>
          <a:p>
            <a:pPr>
              <a:buFont typeface="Wingdings 3"/>
              <a:buChar char=""/>
            </a:pPr>
            <a:r>
              <a:rPr lang="en-US" dirty="0">
                <a:ea typeface="+mn-lt"/>
                <a:cs typeface="+mn-lt"/>
              </a:rPr>
              <a:t>q1 → </a:t>
            </a:r>
            <a:r>
              <a:rPr lang="en-US" dirty="0" err="1">
                <a:ea typeface="+mn-lt"/>
                <a:cs typeface="+mn-lt"/>
              </a:rPr>
              <a:t>enter_wrong_pin</a:t>
            </a:r>
            <a:r>
              <a:rPr lang="en-US" dirty="0">
                <a:ea typeface="+mn-lt"/>
                <a:cs typeface="+mn-lt"/>
              </a:rPr>
              <a:t> → q4</a:t>
            </a:r>
            <a:endParaRPr lang="en-US" dirty="0"/>
          </a:p>
          <a:p>
            <a:pPr>
              <a:buFont typeface="Wingdings 3"/>
              <a:buChar char=""/>
            </a:pPr>
            <a:r>
              <a:rPr lang="en-US">
                <a:ea typeface="+mn-lt"/>
                <a:cs typeface="+mn-lt"/>
              </a:rPr>
              <a:t>q1 → cancel → q0</a:t>
            </a:r>
            <a:endParaRPr lang="en-US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72321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69F29-FF61-408F-1D7F-8FA2D89CA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EA9D6-6808-F280-EA11-42CE18255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815" y="313666"/>
            <a:ext cx="9645463" cy="829335"/>
          </a:xfrm>
        </p:spPr>
        <p:txBody>
          <a:bodyPr>
            <a:noAutofit/>
          </a:bodyPr>
          <a:lstStyle/>
          <a:p>
            <a:r>
              <a:rPr lang="en-US" sz="2800" b="1">
                <a:ea typeface="+mj-lt"/>
                <a:cs typeface="+mj-lt"/>
              </a:rPr>
              <a:t>Example 2: </a:t>
            </a:r>
            <a:br>
              <a:rPr lang="en-US" sz="2800" b="1" dirty="0">
                <a:ea typeface="+mj-lt"/>
                <a:cs typeface="+mj-lt"/>
              </a:rPr>
            </a:br>
            <a:r>
              <a:rPr lang="en-US" sz="2800" b="1">
                <a:ea typeface="+mj-lt"/>
                <a:cs typeface="+mj-lt"/>
              </a:rPr>
              <a:t>Online Login System (3 Wrong Attempts → Account </a:t>
            </a:r>
            <a:r>
              <a:rPr lang="en-US" sz="2800" b="1" dirty="0">
                <a:ea typeface="+mj-lt"/>
                <a:cs typeface="+mj-lt"/>
              </a:rPr>
              <a:t>Locked)</a:t>
            </a:r>
            <a:endParaRPr lang="en-US" sz="28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B71DCB-F801-A1CB-6DCB-DF602A7A1E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1101" y="1710267"/>
            <a:ext cx="9183511" cy="4200955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2000" b="1"/>
              <a:t>Problem Scenario </a:t>
            </a:r>
            <a:r>
              <a:rPr lang="en-US" sz="2000"/>
              <a:t>Design</a:t>
            </a:r>
            <a:r>
              <a:rPr lang="en-US" sz="2000">
                <a:ea typeface="+mn-lt"/>
                <a:cs typeface="+mn-lt"/>
              </a:rPr>
              <a:t> a system where:</a:t>
            </a:r>
            <a:endParaRPr lang="en-US" sz="2000"/>
          </a:p>
          <a:p>
            <a:pPr>
              <a:buFont typeface="Wingdings 3"/>
              <a:buChar char=""/>
            </a:pPr>
            <a:r>
              <a:rPr lang="en-US" sz="2000">
                <a:ea typeface="+mn-lt"/>
                <a:cs typeface="+mn-lt"/>
              </a:rPr>
              <a:t>A user tries to log in.</a:t>
            </a:r>
            <a:endParaRPr lang="en-US" sz="2000"/>
          </a:p>
          <a:p>
            <a:pPr>
              <a:buFont typeface="Wingdings 3"/>
              <a:buChar char=""/>
            </a:pPr>
            <a:r>
              <a:rPr lang="en-US" sz="2000">
                <a:ea typeface="+mn-lt"/>
                <a:cs typeface="+mn-lt"/>
              </a:rPr>
              <a:t>If the password is </a:t>
            </a:r>
            <a:r>
              <a:rPr lang="en-US" sz="2000" b="1">
                <a:ea typeface="+mn-lt"/>
                <a:cs typeface="+mn-lt"/>
              </a:rPr>
              <a:t>correct</a:t>
            </a:r>
            <a:r>
              <a:rPr lang="en-US" sz="2000">
                <a:ea typeface="+mn-lt"/>
                <a:cs typeface="+mn-lt"/>
              </a:rPr>
              <a:t>, the user logs in successfully.</a:t>
            </a:r>
            <a:endParaRPr lang="en-US" sz="2000"/>
          </a:p>
          <a:p>
            <a:pPr>
              <a:buFont typeface="Wingdings 3"/>
              <a:buChar char=""/>
            </a:pPr>
            <a:r>
              <a:rPr lang="en-US" sz="2000">
                <a:ea typeface="+mn-lt"/>
                <a:cs typeface="+mn-lt"/>
              </a:rPr>
              <a:t>If the password is </a:t>
            </a:r>
            <a:r>
              <a:rPr lang="en-US" sz="2000" b="1">
                <a:ea typeface="+mn-lt"/>
                <a:cs typeface="+mn-lt"/>
              </a:rPr>
              <a:t>wrong 3 times</a:t>
            </a:r>
            <a:r>
              <a:rPr lang="en-US" sz="2000">
                <a:ea typeface="+mn-lt"/>
                <a:cs typeface="+mn-lt"/>
              </a:rPr>
              <a:t>, the account gets </a:t>
            </a:r>
            <a:r>
              <a:rPr lang="en-US" sz="2000" b="1">
                <a:ea typeface="+mn-lt"/>
                <a:cs typeface="+mn-lt"/>
              </a:rPr>
              <a:t>locked</a:t>
            </a:r>
            <a:r>
              <a:rPr lang="en-US" sz="2000">
                <a:ea typeface="+mn-lt"/>
                <a:cs typeface="+mn-lt"/>
              </a:rPr>
              <a:t>.</a:t>
            </a:r>
            <a:endParaRPr lang="en-US" sz="2000"/>
          </a:p>
          <a:p>
            <a:pPr>
              <a:buNone/>
            </a:pPr>
            <a:r>
              <a:rPr lang="en-US" sz="2000" b="1"/>
              <a:t>States (Q)</a:t>
            </a:r>
          </a:p>
          <a:p>
            <a:pPr>
              <a:buFont typeface="Wingdings 3"/>
              <a:buChar char=""/>
            </a:pPr>
            <a:r>
              <a:rPr lang="en-US" sz="2000" b="1">
                <a:ea typeface="+mn-lt"/>
                <a:cs typeface="+mn-lt"/>
              </a:rPr>
              <a:t>q0</a:t>
            </a:r>
            <a:r>
              <a:rPr lang="en-US" sz="2000">
                <a:ea typeface="+mn-lt"/>
                <a:cs typeface="+mn-lt"/>
              </a:rPr>
              <a:t> → Start state (0 wrong attempts)</a:t>
            </a:r>
          </a:p>
          <a:p>
            <a:pPr>
              <a:buFont typeface="Wingdings 3"/>
              <a:buChar char=""/>
            </a:pPr>
            <a:r>
              <a:rPr lang="en-US" sz="2000" b="1">
                <a:ea typeface="+mn-lt"/>
                <a:cs typeface="+mn-lt"/>
              </a:rPr>
              <a:t>q1</a:t>
            </a:r>
            <a:r>
              <a:rPr lang="en-US" sz="2000">
                <a:ea typeface="+mn-lt"/>
                <a:cs typeface="+mn-lt"/>
              </a:rPr>
              <a:t> → 1 wrong attempt</a:t>
            </a:r>
          </a:p>
          <a:p>
            <a:pPr>
              <a:buFont typeface="Wingdings 3"/>
              <a:buChar char=""/>
            </a:pPr>
            <a:r>
              <a:rPr lang="en-US" sz="2000" b="1">
                <a:ea typeface="+mn-lt"/>
                <a:cs typeface="+mn-lt"/>
              </a:rPr>
              <a:t>q2</a:t>
            </a:r>
            <a:r>
              <a:rPr lang="en-US" sz="2000">
                <a:ea typeface="+mn-lt"/>
                <a:cs typeface="+mn-lt"/>
              </a:rPr>
              <a:t> → 2 wrong attempts</a:t>
            </a:r>
          </a:p>
          <a:p>
            <a:pPr>
              <a:buFont typeface="Wingdings 3"/>
              <a:buChar char=""/>
            </a:pPr>
            <a:r>
              <a:rPr lang="en-US" sz="2000" b="1">
                <a:ea typeface="+mn-lt"/>
                <a:cs typeface="+mn-lt"/>
              </a:rPr>
              <a:t>q3</a:t>
            </a:r>
            <a:r>
              <a:rPr lang="en-US" sz="2000">
                <a:ea typeface="+mn-lt"/>
                <a:cs typeface="+mn-lt"/>
              </a:rPr>
              <a:t> → Account Locked</a:t>
            </a:r>
          </a:p>
          <a:p>
            <a:pPr>
              <a:buFont typeface="Wingdings 3"/>
              <a:buChar char=""/>
            </a:pPr>
            <a:r>
              <a:rPr lang="en-US" sz="2000" b="1">
                <a:ea typeface="+mn-lt"/>
                <a:cs typeface="+mn-lt"/>
              </a:rPr>
              <a:t>q4</a:t>
            </a:r>
            <a:r>
              <a:rPr lang="en-US" sz="2000">
                <a:ea typeface="+mn-lt"/>
                <a:cs typeface="+mn-lt"/>
              </a:rPr>
              <a:t> → Login Successful</a:t>
            </a:r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So, </a:t>
            </a:r>
            <a:r>
              <a:rPr lang="en-US" sz="2000" b="1" dirty="0">
                <a:ea typeface="+mn-lt"/>
                <a:cs typeface="+mn-lt"/>
              </a:rPr>
              <a:t>Q={q0,q1,q2,q3,q4}</a:t>
            </a:r>
            <a:endParaRPr lang="en-US" sz="2000" b="1" dirty="0"/>
          </a:p>
          <a:p>
            <a:pPr marL="0" indent="0">
              <a:buFont typeface="Wingdings 3"/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0894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186A1-1D42-54C2-1274-E1F901440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B1FB6-5951-9389-3012-0C63C0431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815" y="313666"/>
            <a:ext cx="9645463" cy="829335"/>
          </a:xfrm>
        </p:spPr>
        <p:txBody>
          <a:bodyPr>
            <a:noAutofit/>
          </a:bodyPr>
          <a:lstStyle/>
          <a:p>
            <a:r>
              <a:rPr lang="en-US" sz="2800" b="1">
                <a:ea typeface="+mj-lt"/>
                <a:cs typeface="+mj-lt"/>
              </a:rPr>
              <a:t>Example 2: </a:t>
            </a:r>
            <a:br>
              <a:rPr lang="en-US" sz="2800" b="1" dirty="0">
                <a:ea typeface="+mj-lt"/>
                <a:cs typeface="+mj-lt"/>
              </a:rPr>
            </a:br>
            <a:r>
              <a:rPr lang="en-US" sz="2800" b="1">
                <a:ea typeface="+mj-lt"/>
                <a:cs typeface="+mj-lt"/>
              </a:rPr>
              <a:t>Online Login System (3 Wrong Attempts → Account </a:t>
            </a:r>
            <a:r>
              <a:rPr lang="en-US" sz="2800" b="1" dirty="0">
                <a:ea typeface="+mj-lt"/>
                <a:cs typeface="+mj-lt"/>
              </a:rPr>
              <a:t>Locked)</a:t>
            </a:r>
            <a:endParaRPr lang="en-US" sz="28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8AF223-B932-3F30-4D1E-3EA2436A6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1101" y="1710267"/>
            <a:ext cx="9183511" cy="4200955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b="1"/>
              <a:t>Alphabet (Σ)</a:t>
            </a:r>
          </a:p>
          <a:p>
            <a:pPr algn="ctr">
              <a:buNone/>
            </a:pPr>
            <a:r>
              <a:rPr lang="en-US" sz="2000" b="1">
                <a:ea typeface="+mn-lt"/>
                <a:cs typeface="+mn-lt"/>
              </a:rPr>
              <a:t>Σ={</a:t>
            </a:r>
            <a:r>
              <a:rPr lang="en-US" sz="2000" b="1" err="1">
                <a:ea typeface="+mn-lt"/>
                <a:cs typeface="+mn-lt"/>
              </a:rPr>
              <a:t>correct,wrong</a:t>
            </a:r>
            <a:r>
              <a:rPr lang="en-US" sz="2000" b="1">
                <a:ea typeface="+mn-lt"/>
                <a:cs typeface="+mn-lt"/>
              </a:rPr>
              <a:t>}</a:t>
            </a:r>
          </a:p>
          <a:p>
            <a:pPr>
              <a:buNone/>
            </a:pPr>
            <a:r>
              <a:rPr lang="en-US" b="1"/>
              <a:t>Start State: q0</a:t>
            </a:r>
            <a:endParaRPr lang="en-US" sz="2000" b="1"/>
          </a:p>
          <a:p>
            <a:pPr>
              <a:buNone/>
            </a:pPr>
            <a:r>
              <a:rPr lang="en-US" b="1"/>
              <a:t>Final States (F): </a:t>
            </a:r>
            <a:r>
              <a:rPr lang="en-US" sz="2000" b="1">
                <a:ea typeface="+mn-lt"/>
                <a:cs typeface="+mn-lt"/>
              </a:rPr>
              <a:t>F={q3,q4}</a:t>
            </a:r>
            <a:endParaRPr lang="en-US" b="1"/>
          </a:p>
          <a:p>
            <a:pPr>
              <a:buFont typeface="Wingdings 3"/>
              <a:buChar char=""/>
            </a:pPr>
            <a:r>
              <a:rPr lang="en-US" sz="2000">
                <a:ea typeface="+mn-lt"/>
                <a:cs typeface="+mn-lt"/>
              </a:rPr>
              <a:t>q3 = Locked</a:t>
            </a:r>
            <a:endParaRPr lang="en-US"/>
          </a:p>
          <a:p>
            <a:pPr>
              <a:buFont typeface="Wingdings 3"/>
              <a:buChar char=""/>
            </a:pPr>
            <a:r>
              <a:rPr lang="en-US" sz="2000">
                <a:ea typeface="+mn-lt"/>
                <a:cs typeface="+mn-lt"/>
              </a:rPr>
              <a:t>q4 = Successfully logged in</a:t>
            </a:r>
            <a:endParaRPr lang="en-US"/>
          </a:p>
          <a:p>
            <a:pPr>
              <a:buNone/>
            </a:pPr>
            <a:endParaRPr lang="en-US" sz="20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959727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6E2B9-1BB7-4E09-C9C3-C7E94FB47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D8CC5-9DA4-D50C-45F4-1570BC032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815" y="313666"/>
            <a:ext cx="9645463" cy="829335"/>
          </a:xfrm>
        </p:spPr>
        <p:txBody>
          <a:bodyPr>
            <a:noAutofit/>
          </a:bodyPr>
          <a:lstStyle/>
          <a:p>
            <a:r>
              <a:rPr lang="en-US" sz="2800" b="1">
                <a:ea typeface="+mj-lt"/>
                <a:cs typeface="+mj-lt"/>
              </a:rPr>
              <a:t>Example 2: </a:t>
            </a:r>
            <a:br>
              <a:rPr lang="en-US" sz="2800" b="1" dirty="0">
                <a:ea typeface="+mj-lt"/>
                <a:cs typeface="+mj-lt"/>
              </a:rPr>
            </a:br>
            <a:r>
              <a:rPr lang="en-US" sz="2800" b="1">
                <a:ea typeface="+mj-lt"/>
                <a:cs typeface="+mj-lt"/>
              </a:rPr>
              <a:t>Online Login System (3 Wrong Attempts → Account </a:t>
            </a:r>
            <a:r>
              <a:rPr lang="en-US" sz="2800" b="1" dirty="0">
                <a:ea typeface="+mj-lt"/>
                <a:cs typeface="+mj-lt"/>
              </a:rPr>
              <a:t>Locked)</a:t>
            </a:r>
            <a:endParaRPr lang="en-US" sz="28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32F06A-2BB3-E058-1267-394D859DB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1101" y="1710267"/>
            <a:ext cx="9183511" cy="4200955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b="1">
                <a:ea typeface="+mn-lt"/>
                <a:cs typeface="+mn-lt"/>
              </a:rPr>
              <a:t>Transition Function (δ)</a:t>
            </a:r>
          </a:p>
          <a:p>
            <a:pPr>
              <a:buNone/>
            </a:pPr>
            <a:endParaRPr lang="en-US" b="1" dirty="0">
              <a:ea typeface="+mn-lt"/>
              <a:cs typeface="+mn-lt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4550911-713C-0E7F-AA76-AADBBE96D8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2349904"/>
              </p:ext>
            </p:extLst>
          </p:nvPr>
        </p:nvGraphicFramePr>
        <p:xfrm>
          <a:off x="3287889" y="2458720"/>
          <a:ext cx="6057671" cy="2194560"/>
        </p:xfrm>
        <a:graphic>
          <a:graphicData uri="http://schemas.openxmlformats.org/drawingml/2006/table">
            <a:tbl>
              <a:tblPr bandRow="1">
                <a:tableStyleId>{BC89EF96-8CEA-46FF-86C4-4CE0E7609802}</a:tableStyleId>
              </a:tblPr>
              <a:tblGrid>
                <a:gridCol w="2024223">
                  <a:extLst>
                    <a:ext uri="{9D8B030D-6E8A-4147-A177-3AD203B41FA5}">
                      <a16:colId xmlns:a16="http://schemas.microsoft.com/office/drawing/2014/main" val="4088160683"/>
                    </a:ext>
                  </a:extLst>
                </a:gridCol>
                <a:gridCol w="2258917">
                  <a:extLst>
                    <a:ext uri="{9D8B030D-6E8A-4147-A177-3AD203B41FA5}">
                      <a16:colId xmlns:a16="http://schemas.microsoft.com/office/drawing/2014/main" val="598863517"/>
                    </a:ext>
                  </a:extLst>
                </a:gridCol>
                <a:gridCol w="1774531">
                  <a:extLst>
                    <a:ext uri="{9D8B030D-6E8A-4147-A177-3AD203B41FA5}">
                      <a16:colId xmlns:a16="http://schemas.microsoft.com/office/drawing/2014/main" val="38965590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Current State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Input = correct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Input = wrong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2981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2228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92101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3449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1087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1863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73833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99BC8-F9D6-0FFC-C690-280CD3D2C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BD430-76C4-8D05-D8CA-CBFA86A02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815" y="313666"/>
            <a:ext cx="9645463" cy="829335"/>
          </a:xfrm>
        </p:spPr>
        <p:txBody>
          <a:bodyPr>
            <a:noAutofit/>
          </a:bodyPr>
          <a:lstStyle/>
          <a:p>
            <a:r>
              <a:rPr lang="en-US" sz="2800" b="1">
                <a:ea typeface="+mj-lt"/>
                <a:cs typeface="+mj-lt"/>
              </a:rPr>
              <a:t>Example 2: </a:t>
            </a:r>
            <a:br>
              <a:rPr lang="en-US" sz="2800" b="1" dirty="0">
                <a:ea typeface="+mj-lt"/>
                <a:cs typeface="+mj-lt"/>
              </a:rPr>
            </a:br>
            <a:r>
              <a:rPr lang="en-US" sz="2800" b="1">
                <a:ea typeface="+mj-lt"/>
                <a:cs typeface="+mj-lt"/>
              </a:rPr>
              <a:t>Online Login System (3 Wrong Attempts → Account </a:t>
            </a:r>
            <a:r>
              <a:rPr lang="en-US" sz="2800" b="1" dirty="0">
                <a:ea typeface="+mj-lt"/>
                <a:cs typeface="+mj-lt"/>
              </a:rPr>
              <a:t>Locked)</a:t>
            </a:r>
            <a:endParaRPr lang="en-US" sz="28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0723E3-247B-6467-8D4A-B3CBA99AA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1101" y="1710267"/>
            <a:ext cx="9183511" cy="4821843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b="1">
                <a:ea typeface="+mn-lt"/>
                <a:cs typeface="+mn-lt"/>
              </a:rPr>
              <a:t>Mathematical Representation of δ</a:t>
            </a:r>
          </a:p>
          <a:p>
            <a:pPr marL="0" indent="0" algn="ctr">
              <a:buNone/>
            </a:pPr>
            <a:r>
              <a:rPr lang="en-US" b="1">
                <a:ea typeface="+mn-lt"/>
                <a:cs typeface="+mn-lt"/>
              </a:rPr>
              <a:t>δ(q0,wrong)=q1 </a:t>
            </a:r>
          </a:p>
          <a:p>
            <a:pPr marL="0" indent="0" algn="ctr">
              <a:buNone/>
            </a:pPr>
            <a:r>
              <a:rPr lang="en-US" b="1">
                <a:ea typeface="+mn-lt"/>
                <a:cs typeface="+mn-lt"/>
              </a:rPr>
              <a:t>δ(q1,wrong)=q2 </a:t>
            </a:r>
          </a:p>
          <a:p>
            <a:pPr marL="0" indent="0" algn="ctr">
              <a:buNone/>
            </a:pPr>
            <a:r>
              <a:rPr lang="en-US" b="1">
                <a:ea typeface="+mn-lt"/>
                <a:cs typeface="+mn-lt"/>
              </a:rPr>
              <a:t>δ(q2,wrong)=q3 </a:t>
            </a:r>
          </a:p>
          <a:p>
            <a:pPr marL="0" indent="0" algn="ctr">
              <a:buNone/>
            </a:pPr>
            <a:r>
              <a:rPr lang="en-US" b="1">
                <a:ea typeface="+mn-lt"/>
                <a:cs typeface="+mn-lt"/>
              </a:rPr>
              <a:t>δ(q0,correct)=q4 </a:t>
            </a:r>
          </a:p>
          <a:p>
            <a:pPr marL="0" indent="0" algn="ctr">
              <a:buNone/>
            </a:pPr>
            <a:r>
              <a:rPr lang="en-US" b="1">
                <a:ea typeface="+mn-lt"/>
                <a:cs typeface="+mn-lt"/>
              </a:rPr>
              <a:t>δ(q1,correct)=q4</a:t>
            </a:r>
          </a:p>
          <a:p>
            <a:pPr marL="0" indent="0" algn="ctr">
              <a:buNone/>
            </a:pPr>
            <a:r>
              <a:rPr lang="en-US" b="1">
                <a:ea typeface="+mn-lt"/>
                <a:cs typeface="+mn-lt"/>
              </a:rPr>
              <a:t>δ(q2,correct)=q4</a:t>
            </a:r>
            <a:endParaRPr lang="en-US" b="1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Locked and success states remain in themselves:</a:t>
            </a:r>
          </a:p>
          <a:p>
            <a:pPr algn="ctr">
              <a:buNone/>
            </a:pPr>
            <a:r>
              <a:rPr lang="en-US" b="1">
                <a:ea typeface="+mn-lt"/>
                <a:cs typeface="+mn-lt"/>
              </a:rPr>
              <a:t>δ(q3,correct)=q3 </a:t>
            </a:r>
          </a:p>
          <a:p>
            <a:pPr algn="ctr">
              <a:buNone/>
            </a:pPr>
            <a:r>
              <a:rPr lang="en-US" b="1">
                <a:ea typeface="+mn-lt"/>
                <a:cs typeface="+mn-lt"/>
              </a:rPr>
              <a:t>δ(q3,wrong)=q3</a:t>
            </a:r>
          </a:p>
          <a:p>
            <a:pPr algn="ctr">
              <a:buNone/>
            </a:pPr>
            <a:r>
              <a:rPr lang="en-US" b="1">
                <a:ea typeface="+mn-lt"/>
                <a:cs typeface="+mn-lt"/>
              </a:rPr>
              <a:t> δ(q4,correct)=q4</a:t>
            </a:r>
          </a:p>
          <a:p>
            <a:pPr algn="ctr">
              <a:buNone/>
            </a:pPr>
            <a:r>
              <a:rPr lang="en-US" b="1">
                <a:ea typeface="+mn-lt"/>
                <a:cs typeface="+mn-lt"/>
              </a:rPr>
              <a:t> δ(q4,wrong)=q4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0710644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BF55E-48E4-71BE-A36A-30207E731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41D47-FADE-E845-CCF2-D5112B731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1259" y="624110"/>
            <a:ext cx="9123353" cy="1280890"/>
          </a:xfrm>
        </p:spPr>
        <p:txBody>
          <a:bodyPr/>
          <a:lstStyle/>
          <a:p>
            <a:r>
              <a:rPr lang="en-US" b="1">
                <a:ea typeface="+mj-lt"/>
                <a:cs typeface="+mj-lt"/>
              </a:rPr>
              <a:t>Non-Deterministic FSM (NFSM / NFA)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C4A66-506A-D4F9-4725-ACA45213B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7547" y="1526823"/>
            <a:ext cx="9395176" cy="4384399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>
                <a:ea typeface="+mn-lt"/>
                <a:cs typeface="+mn-lt"/>
              </a:rPr>
              <a:t>An NFSM may have </a:t>
            </a:r>
            <a:r>
              <a:rPr lang="en-US" sz="2400" b="1">
                <a:ea typeface="+mn-lt"/>
                <a:cs typeface="+mn-lt"/>
              </a:rPr>
              <a:t>multiple next states</a:t>
            </a:r>
            <a:r>
              <a:rPr lang="en-US" sz="2400">
                <a:ea typeface="+mn-lt"/>
                <a:cs typeface="+mn-lt"/>
              </a:rPr>
              <a:t> for the same input or </a:t>
            </a:r>
            <a:r>
              <a:rPr lang="en-US" sz="2400" b="1">
                <a:ea typeface="+mn-lt"/>
                <a:cs typeface="+mn-lt"/>
              </a:rPr>
              <a:t>ε-transitions</a:t>
            </a:r>
            <a:r>
              <a:rPr lang="en-US" sz="2400">
                <a:ea typeface="+mn-lt"/>
                <a:cs typeface="+mn-lt"/>
              </a:rPr>
              <a:t> (no input).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400" b="1">
                <a:ea typeface="+mn-lt"/>
                <a:cs typeface="+mn-lt"/>
              </a:rPr>
              <a:t>Characteristics:</a:t>
            </a:r>
            <a:endParaRPr lang="en-US" b="1">
              <a:ea typeface="+mn-lt"/>
              <a:cs typeface="+mn-lt"/>
            </a:endParaRPr>
          </a:p>
          <a:p>
            <a:pPr>
              <a:buFont typeface="Wingdings 3"/>
              <a:buChar char=""/>
            </a:pPr>
            <a:r>
              <a:rPr lang="en-US" sz="2400">
                <a:ea typeface="+mn-lt"/>
                <a:cs typeface="+mn-lt"/>
              </a:rPr>
              <a:t>Flexible</a:t>
            </a:r>
            <a:endParaRPr lang="en-US"/>
          </a:p>
          <a:p>
            <a:pPr>
              <a:buFont typeface="Wingdings 3"/>
              <a:buChar char=""/>
            </a:pPr>
            <a:r>
              <a:rPr lang="en-US" sz="2400">
                <a:ea typeface="+mn-lt"/>
                <a:cs typeface="+mn-lt"/>
              </a:rPr>
              <a:t>Used in theoretical modeling</a:t>
            </a:r>
            <a:endParaRPr lang="en-US"/>
          </a:p>
          <a:p>
            <a:pPr>
              <a:buFont typeface="Wingdings 3"/>
              <a:buChar char=""/>
            </a:pPr>
            <a:r>
              <a:rPr lang="en-US" sz="2400">
                <a:ea typeface="+mn-lt"/>
                <a:cs typeface="+mn-lt"/>
              </a:rPr>
              <a:t>Can model multiple possibilities</a:t>
            </a:r>
            <a:endParaRPr lang="en-US"/>
          </a:p>
          <a:p>
            <a:pPr marL="0" indent="0">
              <a:buNone/>
            </a:pPr>
            <a:r>
              <a:rPr lang="en-US" sz="2400" b="1">
                <a:ea typeface="+mn-lt"/>
                <a:cs typeface="+mn-lt"/>
              </a:rPr>
              <a:t>Example – Simple NFSM:</a:t>
            </a:r>
            <a:endParaRPr lang="en-US">
              <a:ea typeface="+mn-lt"/>
              <a:cs typeface="+mn-lt"/>
            </a:endParaRPr>
          </a:p>
          <a:p>
            <a:pPr>
              <a:buFont typeface="Wingdings 3"/>
              <a:buChar char=""/>
            </a:pPr>
            <a:r>
              <a:rPr lang="en-US" sz="2400">
                <a:ea typeface="+mn-lt"/>
                <a:cs typeface="+mn-lt"/>
              </a:rPr>
              <a:t>State S1 with input </a:t>
            </a:r>
            <a:r>
              <a:rPr lang="en-US" sz="2400">
                <a:latin typeface="Consolas"/>
                <a:ea typeface="+mn-lt"/>
                <a:cs typeface="+mn-lt"/>
              </a:rPr>
              <a:t>a</a:t>
            </a:r>
            <a:r>
              <a:rPr lang="en-US" sz="2400">
                <a:ea typeface="+mn-lt"/>
                <a:cs typeface="+mn-lt"/>
              </a:rPr>
              <a:t> may go to </a:t>
            </a:r>
            <a:r>
              <a:rPr lang="en-US" sz="2400" b="1">
                <a:ea typeface="+mn-lt"/>
                <a:cs typeface="+mn-lt"/>
              </a:rPr>
              <a:t>S2 or S3</a:t>
            </a:r>
            <a:endParaRPr lang="en-US"/>
          </a:p>
          <a:p>
            <a:pPr>
              <a:buFont typeface="Wingdings 3"/>
              <a:buChar char=""/>
            </a:pPr>
            <a:r>
              <a:rPr lang="en-US" sz="2400">
                <a:ea typeface="+mn-lt"/>
                <a:cs typeface="+mn-lt"/>
              </a:rPr>
              <a:t>State S2 with input </a:t>
            </a:r>
            <a:r>
              <a:rPr lang="en-US" sz="2400">
                <a:latin typeface="Consolas"/>
                <a:ea typeface="+mn-lt"/>
                <a:cs typeface="+mn-lt"/>
              </a:rPr>
              <a:t>b</a:t>
            </a:r>
            <a:r>
              <a:rPr lang="en-US" sz="2400">
                <a:ea typeface="+mn-lt"/>
                <a:cs typeface="+mn-lt"/>
              </a:rPr>
              <a:t> goes to S3</a:t>
            </a:r>
            <a:endParaRPr lang="en-US"/>
          </a:p>
          <a:p>
            <a:pPr>
              <a:buFont typeface="Wingdings 3"/>
              <a:buChar char=""/>
            </a:pPr>
            <a:r>
              <a:rPr lang="en-US" sz="2400">
                <a:ea typeface="+mn-lt"/>
                <a:cs typeface="+mn-lt"/>
              </a:rPr>
              <a:t>ε-transition from S3 → S1</a:t>
            </a:r>
            <a:endParaRPr lang="en-US"/>
          </a:p>
          <a:p>
            <a:pPr>
              <a:buFont typeface="Wingdings 3"/>
              <a:buChar char=""/>
            </a:pPr>
            <a:r>
              <a:rPr lang="en-US" sz="2400">
                <a:ea typeface="+mn-lt"/>
                <a:cs typeface="+mn-lt"/>
              </a:rPr>
              <a:t>Every NFSM can be converted into DFSM</a:t>
            </a:r>
            <a:endParaRPr lang="en-US"/>
          </a:p>
          <a:p>
            <a:pPr>
              <a:buFont typeface="Wingdings 3"/>
              <a:buChar char=""/>
            </a:pPr>
            <a:endParaRPr lang="en-US" sz="24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784305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FA675-3144-C09B-D25C-7BAE15FCD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29261-E2AC-9562-99AD-81EF26D2B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1259" y="624110"/>
            <a:ext cx="9123353" cy="1280890"/>
          </a:xfrm>
        </p:spPr>
        <p:txBody>
          <a:bodyPr/>
          <a:lstStyle/>
          <a:p>
            <a:r>
              <a:rPr lang="en-US" b="1">
                <a:ea typeface="+mj-lt"/>
                <a:cs typeface="+mj-lt"/>
              </a:rPr>
              <a:t>Example: </a:t>
            </a:r>
            <a:r>
              <a:rPr lang="en-US">
                <a:ea typeface="+mj-lt"/>
                <a:cs typeface="+mj-lt"/>
              </a:rPr>
              <a:t>System That Detects “</a:t>
            </a:r>
            <a:r>
              <a:rPr lang="en-US" b="1">
                <a:ea typeface="+mj-lt"/>
                <a:cs typeface="+mj-lt"/>
              </a:rPr>
              <a:t>Error</a:t>
            </a:r>
            <a:r>
              <a:rPr lang="en-US">
                <a:ea typeface="+mj-lt"/>
                <a:cs typeface="+mj-lt"/>
              </a:rPr>
              <a:t>” Pattern Anywhere in Input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5BCC9-1375-45BA-F091-38D386B874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7547" y="1907822"/>
            <a:ext cx="9395176" cy="400340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buNone/>
            </a:pPr>
            <a:r>
              <a:rPr lang="en-US" sz="2600" b="1"/>
              <a:t>Problem Scenario</a:t>
            </a:r>
          </a:p>
          <a:p>
            <a:pPr>
              <a:buNone/>
            </a:pPr>
            <a:r>
              <a:rPr lang="en-US" sz="2400">
                <a:ea typeface="+mn-lt"/>
                <a:cs typeface="+mn-lt"/>
              </a:rPr>
              <a:t>Design a system that:</a:t>
            </a:r>
            <a:endParaRPr lang="en-US">
              <a:ea typeface="+mn-lt"/>
              <a:cs typeface="+mn-lt"/>
            </a:endParaRPr>
          </a:p>
          <a:p>
            <a:pPr>
              <a:buFont typeface="Wingdings 3"/>
              <a:buChar char=""/>
            </a:pPr>
            <a:r>
              <a:rPr lang="en-US" sz="2400">
                <a:ea typeface="+mn-lt"/>
                <a:cs typeface="+mn-lt"/>
              </a:rPr>
              <a:t>Reads a sequence of inputs (letters).</a:t>
            </a:r>
            <a:endParaRPr lang="en-US"/>
          </a:p>
          <a:p>
            <a:pPr>
              <a:buFont typeface="Wingdings 3"/>
              <a:buChar char=""/>
            </a:pPr>
            <a:r>
              <a:rPr lang="en-US" sz="2400">
                <a:ea typeface="+mn-lt"/>
                <a:cs typeface="+mn-lt"/>
              </a:rPr>
              <a:t>Accepts if the word </a:t>
            </a:r>
            <a:r>
              <a:rPr lang="en-US" sz="2400" b="1">
                <a:ea typeface="+mn-lt"/>
                <a:cs typeface="+mn-lt"/>
              </a:rPr>
              <a:t>"error"</a:t>
            </a:r>
            <a:r>
              <a:rPr lang="en-US" sz="2400">
                <a:ea typeface="+mn-lt"/>
                <a:cs typeface="+mn-lt"/>
              </a:rPr>
              <a:t> appears anywhere in the input.</a:t>
            </a:r>
            <a:endParaRPr lang="en-US"/>
          </a:p>
          <a:p>
            <a:pPr>
              <a:buFont typeface="Wingdings 3"/>
              <a:buChar char=""/>
            </a:pPr>
            <a:r>
              <a:rPr lang="en-US" sz="2400">
                <a:ea typeface="+mn-lt"/>
                <a:cs typeface="+mn-lt"/>
              </a:rPr>
              <a:t>The system can start checking for "error" at </a:t>
            </a:r>
            <a:r>
              <a:rPr lang="en-US" sz="2400" b="1">
                <a:ea typeface="+mn-lt"/>
                <a:cs typeface="+mn-lt"/>
              </a:rPr>
              <a:t>any position</a:t>
            </a:r>
            <a:r>
              <a:rPr lang="en-US" sz="2400">
                <a:ea typeface="+mn-lt"/>
                <a:cs typeface="+mn-lt"/>
              </a:rPr>
              <a:t>.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400" b="1">
                <a:ea typeface="+mn-lt"/>
                <a:cs typeface="+mn-lt"/>
              </a:rPr>
              <a:t>This is useful in:</a:t>
            </a:r>
            <a:endParaRPr lang="en-US" b="1">
              <a:ea typeface="+mn-lt"/>
              <a:cs typeface="+mn-lt"/>
            </a:endParaRPr>
          </a:p>
          <a:p>
            <a:pPr>
              <a:buFont typeface="Wingdings 3"/>
              <a:buChar char=""/>
            </a:pPr>
            <a:r>
              <a:rPr lang="en-US" sz="2400">
                <a:ea typeface="+mn-lt"/>
                <a:cs typeface="+mn-lt"/>
              </a:rPr>
              <a:t>Log file monitoring</a:t>
            </a:r>
            <a:endParaRPr lang="en-US"/>
          </a:p>
          <a:p>
            <a:pPr>
              <a:buFont typeface="Wingdings 3"/>
              <a:buChar char=""/>
            </a:pPr>
            <a:r>
              <a:rPr lang="en-US" sz="2400">
                <a:ea typeface="+mn-lt"/>
                <a:cs typeface="+mn-lt"/>
              </a:rPr>
              <a:t>Intrusion detection systems</a:t>
            </a:r>
            <a:endParaRPr lang="en-US"/>
          </a:p>
          <a:p>
            <a:pPr>
              <a:buFont typeface="Wingdings 3"/>
              <a:buChar char=""/>
            </a:pPr>
            <a:r>
              <a:rPr lang="en-US" sz="2400">
                <a:ea typeface="+mn-lt"/>
                <a:cs typeface="+mn-lt"/>
              </a:rPr>
              <a:t>Runtime verification (Formal Methods application)</a:t>
            </a:r>
            <a:endParaRPr lang="en-US"/>
          </a:p>
          <a:p>
            <a:pPr marL="0" indent="0">
              <a:buNone/>
            </a:pPr>
            <a:endParaRPr lang="en-US" sz="24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113167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09547-DA37-CC61-6D67-6D37B3A5A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64651-EC6D-761C-C28F-C9D108D85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1259" y="624110"/>
            <a:ext cx="9123353" cy="1280890"/>
          </a:xfrm>
        </p:spPr>
        <p:txBody>
          <a:bodyPr>
            <a:normAutofit/>
          </a:bodyPr>
          <a:lstStyle/>
          <a:p>
            <a:r>
              <a:rPr lang="en-US" b="1"/>
              <a:t>Why This Is NFA?</a:t>
            </a:r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593AF-55CC-A04F-21A7-679DC1DFC9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7547" y="1710267"/>
            <a:ext cx="9395176" cy="420095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en-US" sz="3500" b="1">
                <a:solidFill>
                  <a:srgbClr val="262626"/>
                </a:solidFill>
              </a:rPr>
              <a:t>Because</a:t>
            </a:r>
            <a:r>
              <a:rPr lang="en-US" sz="3500" b="1">
                <a:solidFill>
                  <a:srgbClr val="262626"/>
                </a:solidFill>
                <a:ea typeface="+mn-lt"/>
                <a:cs typeface="+mn-lt"/>
              </a:rPr>
              <a:t>:</a:t>
            </a:r>
          </a:p>
          <a:p>
            <a:pPr>
              <a:spcBef>
                <a:spcPct val="0"/>
              </a:spcBef>
            </a:pPr>
            <a:r>
              <a:rPr lang="en-US" sz="2800" dirty="0">
                <a:solidFill>
                  <a:srgbClr val="262626"/>
                </a:solidFill>
                <a:ea typeface="+mn-lt"/>
                <a:cs typeface="+mn-lt"/>
              </a:rPr>
              <a:t>The system does not know where the word “</a:t>
            </a:r>
            <a:r>
              <a:rPr lang="en-US" sz="2800" b="1" dirty="0">
                <a:solidFill>
                  <a:srgbClr val="262626"/>
                </a:solidFill>
                <a:ea typeface="+mn-lt"/>
                <a:cs typeface="+mn-lt"/>
              </a:rPr>
              <a:t>error</a:t>
            </a:r>
            <a:r>
              <a:rPr lang="en-US" sz="2800" dirty="0">
                <a:solidFill>
                  <a:srgbClr val="262626"/>
                </a:solidFill>
                <a:ea typeface="+mn-lt"/>
                <a:cs typeface="+mn-lt"/>
              </a:rPr>
              <a:t>” </a:t>
            </a:r>
            <a:r>
              <a:rPr lang="en-US" sz="2800">
                <a:solidFill>
                  <a:srgbClr val="262626"/>
                </a:solidFill>
                <a:ea typeface="+mn-lt"/>
                <a:cs typeface="+mn-lt"/>
              </a:rPr>
              <a:t>starts.</a:t>
            </a:r>
            <a:endParaRPr lang="en-US" sz="2800" dirty="0">
              <a:solidFill>
                <a:srgbClr val="262626"/>
              </a:solidFill>
              <a:ea typeface="+mn-lt"/>
              <a:cs typeface="+mn-lt"/>
            </a:endParaRPr>
          </a:p>
          <a:p>
            <a:pPr>
              <a:spcBef>
                <a:spcPct val="0"/>
              </a:spcBef>
            </a:pPr>
            <a:r>
              <a:rPr lang="en-US" sz="2800">
                <a:solidFill>
                  <a:srgbClr val="262626"/>
                </a:solidFill>
                <a:ea typeface="+mn-lt"/>
                <a:cs typeface="+mn-lt"/>
              </a:rPr>
              <a:t>It</a:t>
            </a:r>
            <a:r>
              <a:rPr lang="en-US" sz="2800" dirty="0">
                <a:solidFill>
                  <a:srgbClr val="262626"/>
                </a:solidFill>
                <a:ea typeface="+mn-lt"/>
                <a:cs typeface="+mn-lt"/>
              </a:rPr>
              <a:t> can “</a:t>
            </a:r>
            <a:r>
              <a:rPr lang="en-US" sz="2800" b="1" dirty="0">
                <a:solidFill>
                  <a:srgbClr val="262626"/>
                </a:solidFill>
                <a:ea typeface="+mn-lt"/>
                <a:cs typeface="+mn-lt"/>
              </a:rPr>
              <a:t>guess</a:t>
            </a:r>
            <a:r>
              <a:rPr lang="en-US" sz="2800" dirty="0">
                <a:solidFill>
                  <a:srgbClr val="262626"/>
                </a:solidFill>
                <a:ea typeface="+mn-lt"/>
                <a:cs typeface="+mn-lt"/>
              </a:rPr>
              <a:t>” at any point that the pattern might start.</a:t>
            </a:r>
            <a:endParaRPr lang="en-US" sz="2800"/>
          </a:p>
          <a:p>
            <a:pPr>
              <a:spcBef>
                <a:spcPct val="0"/>
              </a:spcBef>
            </a:pPr>
            <a:r>
              <a:rPr lang="en-US" sz="2800">
                <a:solidFill>
                  <a:srgbClr val="262626"/>
                </a:solidFill>
                <a:ea typeface="+mn-lt"/>
                <a:cs typeface="+mn-lt"/>
              </a:rPr>
              <a:t>That guessing behavior makes it </a:t>
            </a:r>
            <a:r>
              <a:rPr lang="en-US" sz="2800" b="1">
                <a:solidFill>
                  <a:srgbClr val="262626"/>
                </a:solidFill>
                <a:ea typeface="+mn-lt"/>
                <a:cs typeface="+mn-lt"/>
              </a:rPr>
              <a:t>non-deterministic</a:t>
            </a:r>
            <a:r>
              <a:rPr lang="en-US" sz="2800">
                <a:solidFill>
                  <a:srgbClr val="262626"/>
                </a:solidFill>
                <a:ea typeface="+mn-lt"/>
                <a:cs typeface="+mn-lt"/>
              </a:rPr>
              <a:t>.</a:t>
            </a:r>
            <a:endParaRPr lang="en-US" sz="2800">
              <a:solidFill>
                <a:srgbClr val="000000"/>
              </a:solidFill>
            </a:endParaRPr>
          </a:p>
          <a:p>
            <a:pPr marL="0" indent="0">
              <a:spcBef>
                <a:spcPct val="0"/>
              </a:spcBef>
              <a:buNone/>
            </a:pPr>
            <a:endParaRPr lang="en-US" sz="3500" dirty="0">
              <a:solidFill>
                <a:srgbClr val="000000"/>
              </a:solidFill>
            </a:endParaRPr>
          </a:p>
          <a:p>
            <a:pPr>
              <a:buNone/>
            </a:pPr>
            <a:endParaRPr lang="en-US" sz="2600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043757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9F60D-5BB2-8C4D-0667-57CE68746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DB660-5D2B-48CC-F775-0F9F274D0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1259" y="624110"/>
            <a:ext cx="9123353" cy="1280890"/>
          </a:xfrm>
        </p:spPr>
        <p:txBody>
          <a:bodyPr/>
          <a:lstStyle/>
          <a:p>
            <a:r>
              <a:rPr lang="en-US" b="1">
                <a:ea typeface="+mj-lt"/>
                <a:cs typeface="+mj-lt"/>
              </a:rPr>
              <a:t>Example: </a:t>
            </a:r>
            <a:r>
              <a:rPr lang="en-US">
                <a:ea typeface="+mj-lt"/>
                <a:cs typeface="+mj-lt"/>
              </a:rPr>
              <a:t>System That Detects “</a:t>
            </a:r>
            <a:r>
              <a:rPr lang="en-US" b="1">
                <a:ea typeface="+mj-lt"/>
                <a:cs typeface="+mj-lt"/>
              </a:rPr>
              <a:t>Error</a:t>
            </a:r>
            <a:r>
              <a:rPr lang="en-US">
                <a:ea typeface="+mj-lt"/>
                <a:cs typeface="+mj-lt"/>
              </a:rPr>
              <a:t>” Pattern Anywhere in Input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F3358-5AEE-E8D7-6042-D88B5699F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7547" y="1907822"/>
            <a:ext cx="9395176" cy="400340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None/>
            </a:pPr>
            <a:r>
              <a:rPr lang="en-US" b="1"/>
              <a:t>States (Q)</a:t>
            </a:r>
          </a:p>
          <a:p>
            <a:pPr>
              <a:buFont typeface="Wingdings 3"/>
              <a:buChar char=""/>
            </a:pPr>
            <a:r>
              <a:rPr lang="en-US" sz="2600">
                <a:ea typeface="+mn-lt"/>
                <a:cs typeface="+mn-lt"/>
              </a:rPr>
              <a:t>q0 → Start state (waiting)</a:t>
            </a:r>
            <a:endParaRPr lang="en-US"/>
          </a:p>
          <a:p>
            <a:pPr>
              <a:buFont typeface="Wingdings 3"/>
              <a:buChar char=""/>
            </a:pPr>
            <a:r>
              <a:rPr lang="en-US" sz="2600">
                <a:ea typeface="+mn-lt"/>
                <a:cs typeface="+mn-lt"/>
              </a:rPr>
              <a:t>q1 → Saw 'e'</a:t>
            </a:r>
            <a:endParaRPr lang="en-US"/>
          </a:p>
          <a:p>
            <a:pPr>
              <a:buFont typeface="Wingdings 3"/>
              <a:buChar char=""/>
            </a:pPr>
            <a:r>
              <a:rPr lang="en-US" sz="2600">
                <a:ea typeface="+mn-lt"/>
                <a:cs typeface="+mn-lt"/>
              </a:rPr>
              <a:t>q2 → Saw 'er'</a:t>
            </a:r>
            <a:endParaRPr lang="en-US"/>
          </a:p>
          <a:p>
            <a:pPr>
              <a:buFont typeface="Wingdings 3"/>
              <a:buChar char=""/>
            </a:pPr>
            <a:r>
              <a:rPr lang="en-US" sz="2600">
                <a:ea typeface="+mn-lt"/>
                <a:cs typeface="+mn-lt"/>
              </a:rPr>
              <a:t>q3 → Saw 'err'</a:t>
            </a:r>
            <a:endParaRPr lang="en-US"/>
          </a:p>
          <a:p>
            <a:pPr>
              <a:buFont typeface="Wingdings 3"/>
              <a:buChar char=""/>
            </a:pPr>
            <a:r>
              <a:rPr lang="en-US" sz="2600" dirty="0">
                <a:ea typeface="+mn-lt"/>
                <a:cs typeface="+mn-lt"/>
              </a:rPr>
              <a:t>q4 → Saw '</a:t>
            </a:r>
            <a:r>
              <a:rPr lang="en-US" sz="2600" dirty="0" err="1">
                <a:ea typeface="+mn-lt"/>
                <a:cs typeface="+mn-lt"/>
              </a:rPr>
              <a:t>erro</a:t>
            </a:r>
            <a:r>
              <a:rPr lang="en-US" sz="2600" dirty="0">
                <a:ea typeface="+mn-lt"/>
                <a:cs typeface="+mn-lt"/>
              </a:rPr>
              <a:t>'</a:t>
            </a:r>
            <a:endParaRPr lang="en-US"/>
          </a:p>
          <a:p>
            <a:pPr>
              <a:buFont typeface="Wingdings 3"/>
              <a:buChar char=""/>
            </a:pPr>
            <a:r>
              <a:rPr lang="en-US" sz="2600">
                <a:ea typeface="+mn-lt"/>
                <a:cs typeface="+mn-lt"/>
              </a:rPr>
              <a:t>q5 → Saw 'error' (Final state)</a:t>
            </a:r>
          </a:p>
          <a:p>
            <a:pPr marL="0" indent="0" algn="ctr">
              <a:buNone/>
            </a:pPr>
            <a:r>
              <a:rPr lang="en-US" sz="2600" b="1">
                <a:ea typeface="+mn-lt"/>
                <a:cs typeface="+mn-lt"/>
              </a:rPr>
              <a:t>Q={q0,q1,q2,q3,q4,q5} </a:t>
            </a:r>
            <a:endParaRPr lang="en-US" sz="2600" b="1" dirty="0">
              <a:ea typeface="+mn-lt"/>
              <a:cs typeface="+mn-lt"/>
            </a:endParaRPr>
          </a:p>
          <a:p>
            <a:pPr>
              <a:buNone/>
            </a:pPr>
            <a:endParaRPr lang="en-US" sz="2600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118772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706AF-9D9B-8145-5F74-CBEC7BB9B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BF066-7740-B54B-5592-66FE1B24C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1259" y="624110"/>
            <a:ext cx="9123353" cy="1280890"/>
          </a:xfrm>
        </p:spPr>
        <p:txBody>
          <a:bodyPr/>
          <a:lstStyle/>
          <a:p>
            <a:r>
              <a:rPr lang="en-US" b="1">
                <a:ea typeface="+mj-lt"/>
                <a:cs typeface="+mj-lt"/>
              </a:rPr>
              <a:t>Example: </a:t>
            </a:r>
            <a:r>
              <a:rPr lang="en-US">
                <a:ea typeface="+mj-lt"/>
                <a:cs typeface="+mj-lt"/>
              </a:rPr>
              <a:t>System That Detects “</a:t>
            </a:r>
            <a:r>
              <a:rPr lang="en-US" b="1">
                <a:ea typeface="+mj-lt"/>
                <a:cs typeface="+mj-lt"/>
              </a:rPr>
              <a:t>Error</a:t>
            </a:r>
            <a:r>
              <a:rPr lang="en-US">
                <a:ea typeface="+mj-lt"/>
                <a:cs typeface="+mj-lt"/>
              </a:rPr>
              <a:t>” Pattern Anywhere in Input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10D3E-87FC-649D-FA59-AA9434121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7547" y="1907822"/>
            <a:ext cx="9395176" cy="400340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400" b="1"/>
              <a:t>Alphabet (Σ)</a:t>
            </a:r>
          </a:p>
          <a:p>
            <a:pPr algn="ctr">
              <a:buNone/>
            </a:pPr>
            <a:r>
              <a:rPr lang="en-US" sz="2400" b="1" dirty="0">
                <a:ea typeface="+mn-lt"/>
                <a:cs typeface="+mn-lt"/>
              </a:rPr>
              <a:t>Σ={</a:t>
            </a:r>
            <a:r>
              <a:rPr lang="en-US" sz="2400" b="1" dirty="0" err="1">
                <a:ea typeface="+mn-lt"/>
                <a:cs typeface="+mn-lt"/>
              </a:rPr>
              <a:t>e,r,o,other</a:t>
            </a:r>
            <a:r>
              <a:rPr lang="en-US" sz="2400" b="1" dirty="0">
                <a:ea typeface="+mn-lt"/>
                <a:cs typeface="+mn-lt"/>
              </a:rPr>
              <a:t>}</a:t>
            </a:r>
          </a:p>
          <a:p>
            <a:pPr>
              <a:buNone/>
            </a:pPr>
            <a:r>
              <a:rPr lang="en-US" sz="2400" b="1">
                <a:ea typeface="+mn-lt"/>
                <a:cs typeface="+mn-lt"/>
              </a:rPr>
              <a:t>Start State: q0 =q0</a:t>
            </a:r>
          </a:p>
          <a:p>
            <a:pPr>
              <a:buNone/>
            </a:pPr>
            <a:r>
              <a:rPr lang="en-US" sz="2400" b="1"/>
              <a:t>Final State: </a:t>
            </a:r>
            <a:r>
              <a:rPr lang="en-US" sz="2400" b="1">
                <a:ea typeface="+mn-lt"/>
                <a:cs typeface="+mn-lt"/>
              </a:rPr>
              <a:t>F={q5}</a:t>
            </a:r>
            <a:endParaRPr lang="en-US" sz="2400" b="1"/>
          </a:p>
        </p:txBody>
      </p:sp>
    </p:spTree>
    <p:extLst>
      <p:ext uri="{BB962C8B-B14F-4D97-AF65-F5344CB8AC3E}">
        <p14:creationId xmlns:p14="http://schemas.microsoft.com/office/powerpoint/2010/main" val="33466377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4C6AE-DFF4-F501-B09B-C507D80DA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92B58-782A-B5BD-AAC5-CE887C867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1259" y="624110"/>
            <a:ext cx="9123353" cy="1280890"/>
          </a:xfrm>
        </p:spPr>
        <p:txBody>
          <a:bodyPr/>
          <a:lstStyle/>
          <a:p>
            <a:r>
              <a:rPr lang="en-US" b="1">
                <a:ea typeface="+mj-lt"/>
                <a:cs typeface="+mj-lt"/>
              </a:rPr>
              <a:t>Example: </a:t>
            </a:r>
            <a:r>
              <a:rPr lang="en-US">
                <a:ea typeface="+mj-lt"/>
                <a:cs typeface="+mj-lt"/>
              </a:rPr>
              <a:t>System That Detects “</a:t>
            </a:r>
            <a:r>
              <a:rPr lang="en-US" b="1">
                <a:ea typeface="+mj-lt"/>
                <a:cs typeface="+mj-lt"/>
              </a:rPr>
              <a:t>Error</a:t>
            </a:r>
            <a:r>
              <a:rPr lang="en-US">
                <a:ea typeface="+mj-lt"/>
                <a:cs typeface="+mj-lt"/>
              </a:rPr>
              <a:t>” Pattern Anywhere in Input</a:t>
            </a:r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53C4C5F-14B9-6078-17DA-9B25088745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3074202"/>
              </p:ext>
            </p:extLst>
          </p:nvPr>
        </p:nvGraphicFramePr>
        <p:xfrm>
          <a:off x="2589213" y="2133600"/>
          <a:ext cx="8915400" cy="2560320"/>
        </p:xfrm>
        <a:graphic>
          <a:graphicData uri="http://schemas.openxmlformats.org/drawingml/2006/table">
            <a:tbl>
              <a:tblPr bandRow="1">
                <a:tableStyleId>{BC89EF96-8CEA-46FF-86C4-4CE0E7609802}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1321867637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1178740099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3490318648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1548847415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41903393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Current State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other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9488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q0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{q0, q1}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{q0}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{q0}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{q0}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4173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q1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{q2}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26774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q2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{q3}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03555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q3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{q4}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8609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q4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{q5}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1369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q5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{q5}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{q5}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{q5}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{q5}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8729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61974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84CDF-00CB-FDF8-22B7-6E7F83E25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A2768-545B-AB71-2218-751E449C9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1259" y="624110"/>
            <a:ext cx="9123353" cy="1280890"/>
          </a:xfrm>
        </p:spPr>
        <p:txBody>
          <a:bodyPr>
            <a:normAutofit/>
          </a:bodyPr>
          <a:lstStyle/>
          <a:p>
            <a:r>
              <a:rPr lang="en-US" b="1"/>
              <a:t>Why This Is NFA?</a:t>
            </a:r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C71BA-1A44-03E0-4E62-857A80A42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7547" y="1710267"/>
            <a:ext cx="9395176" cy="420095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en-US" sz="3500" b="1">
                <a:solidFill>
                  <a:srgbClr val="262626"/>
                </a:solidFill>
              </a:rPr>
              <a:t>Because</a:t>
            </a:r>
            <a:r>
              <a:rPr lang="en-US" sz="3500" b="1">
                <a:solidFill>
                  <a:srgbClr val="262626"/>
                </a:solidFill>
                <a:ea typeface="+mn-lt"/>
                <a:cs typeface="+mn-lt"/>
              </a:rPr>
              <a:t>:</a:t>
            </a:r>
          </a:p>
          <a:p>
            <a:r>
              <a:rPr lang="en-US" sz="2800">
                <a:solidFill>
                  <a:srgbClr val="262626"/>
                </a:solidFill>
                <a:ea typeface="+mn-lt"/>
                <a:cs typeface="+mn-lt"/>
              </a:rPr>
              <a:t>A state can have </a:t>
            </a:r>
            <a:r>
              <a:rPr lang="en-US" sz="2800" b="1">
                <a:solidFill>
                  <a:srgbClr val="262626"/>
                </a:solidFill>
                <a:ea typeface="+mn-lt"/>
                <a:cs typeface="+mn-lt"/>
              </a:rPr>
              <a:t>multiple next states</a:t>
            </a:r>
            <a:r>
              <a:rPr lang="en-US" sz="2800">
                <a:solidFill>
                  <a:srgbClr val="262626"/>
                </a:solidFill>
                <a:ea typeface="+mn-lt"/>
                <a:cs typeface="+mn-lt"/>
              </a:rPr>
              <a:t> for the same input.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800" b="1">
                <a:solidFill>
                  <a:srgbClr val="262626"/>
                </a:solidFill>
                <a:ea typeface="+mn-lt"/>
                <a:cs typeface="+mn-lt"/>
              </a:rPr>
              <a:t>Example:</a:t>
            </a:r>
            <a:endParaRPr lang="en-US" b="1"/>
          </a:p>
          <a:p>
            <a:pPr marL="0" indent="0" algn="ctr">
              <a:buNone/>
            </a:pPr>
            <a:r>
              <a:rPr lang="en-US" sz="2800" b="1">
                <a:solidFill>
                  <a:srgbClr val="262626"/>
                </a:solidFill>
                <a:ea typeface="+mn-lt"/>
                <a:cs typeface="+mn-lt"/>
              </a:rPr>
              <a:t>δ(q0,e)={q0,q1}</a:t>
            </a:r>
            <a:endParaRPr lang="en-US" sz="2800" b="1">
              <a:solidFill>
                <a:srgbClr val="262626"/>
              </a:solidFill>
            </a:endParaRPr>
          </a:p>
          <a:p>
            <a:r>
              <a:rPr lang="en-US" sz="2800">
                <a:solidFill>
                  <a:srgbClr val="262626"/>
                </a:solidFill>
                <a:ea typeface="+mn-lt"/>
                <a:cs typeface="+mn-lt"/>
              </a:rPr>
              <a:t>DFA would not allow this.</a:t>
            </a:r>
            <a:endParaRPr lang="en-US">
              <a:ea typeface="+mn-lt"/>
              <a:cs typeface="+mn-lt"/>
            </a:endParaRPr>
          </a:p>
          <a:p>
            <a:pPr>
              <a:spcBef>
                <a:spcPct val="0"/>
              </a:spcBef>
            </a:pPr>
            <a:endParaRPr lang="en-US" sz="2800" dirty="0">
              <a:solidFill>
                <a:srgbClr val="262626"/>
              </a:solidFill>
            </a:endParaRPr>
          </a:p>
          <a:p>
            <a:pPr marL="0" indent="0">
              <a:spcBef>
                <a:spcPct val="0"/>
              </a:spcBef>
              <a:buNone/>
            </a:pPr>
            <a:endParaRPr lang="en-US" sz="3500" dirty="0">
              <a:solidFill>
                <a:srgbClr val="000000"/>
              </a:solidFill>
            </a:endParaRPr>
          </a:p>
          <a:p>
            <a:pPr>
              <a:buNone/>
            </a:pPr>
            <a:endParaRPr lang="en-US" sz="2600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408876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6AE8A-2C7B-2618-C195-57DB73682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CD3A6-C5EE-B28F-BD7B-08BCB5BAC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1259" y="624110"/>
            <a:ext cx="9123353" cy="1280890"/>
          </a:xfrm>
        </p:spPr>
        <p:txBody>
          <a:bodyPr>
            <a:normAutofit/>
          </a:bodyPr>
          <a:lstStyle/>
          <a:p>
            <a:r>
              <a:rPr lang="en-US" b="1">
                <a:ea typeface="+mj-lt"/>
                <a:cs typeface="+mj-lt"/>
              </a:rPr>
              <a:t>How It Works</a:t>
            </a:r>
            <a:endParaRPr lang="en-US" b="1"/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A6844-4B7E-9349-4F4A-74D7D6D94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7547" y="1484490"/>
            <a:ext cx="9395176" cy="442673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en-US" sz="2400" dirty="0">
                <a:solidFill>
                  <a:srgbClr val="262626"/>
                </a:solidFill>
                <a:ea typeface="+mn-lt"/>
                <a:cs typeface="+mn-lt"/>
              </a:rPr>
              <a:t>If input is: </a:t>
            </a:r>
            <a:r>
              <a:rPr lang="en-US" sz="2400" b="1" dirty="0" err="1">
                <a:solidFill>
                  <a:srgbClr val="262626"/>
                </a:solidFill>
                <a:ea typeface="+mn-lt"/>
                <a:cs typeface="+mn-lt"/>
              </a:rPr>
              <a:t>xxerrorxx</a:t>
            </a:r>
            <a:endParaRPr lang="en-US" sz="2400" b="1" dirty="0">
              <a:solidFill>
                <a:srgbClr val="262626"/>
              </a:solidFill>
              <a:ea typeface="+mn-lt"/>
              <a:cs typeface="+mn-lt"/>
            </a:endParaRPr>
          </a:p>
          <a:p>
            <a:pPr>
              <a:buNone/>
            </a:pPr>
            <a:r>
              <a:rPr lang="en-US" sz="2400" b="1">
                <a:solidFill>
                  <a:srgbClr val="262626"/>
                </a:solidFill>
                <a:ea typeface="+mn-lt"/>
                <a:cs typeface="+mn-lt"/>
              </a:rPr>
              <a:t>The machine:</a:t>
            </a:r>
            <a:endParaRPr lang="en-US" sz="2400" b="1"/>
          </a:p>
          <a:p>
            <a:pPr>
              <a:buFont typeface="Wingdings 3"/>
              <a:buChar char=""/>
            </a:pPr>
            <a:r>
              <a:rPr lang="en-US" sz="2400">
                <a:solidFill>
                  <a:srgbClr val="262626"/>
                </a:solidFill>
                <a:ea typeface="+mn-lt"/>
                <a:cs typeface="+mn-lt"/>
              </a:rPr>
              <a:t>Stays in q0 for x</a:t>
            </a:r>
            <a:endParaRPr lang="en-US" sz="2400"/>
          </a:p>
          <a:p>
            <a:pPr>
              <a:buFont typeface="Wingdings 3"/>
              <a:buChar char=""/>
            </a:pPr>
            <a:r>
              <a:rPr lang="en-US" sz="2400">
                <a:solidFill>
                  <a:srgbClr val="262626"/>
                </a:solidFill>
                <a:ea typeface="+mn-lt"/>
                <a:cs typeface="+mn-lt"/>
              </a:rPr>
              <a:t>When it sees </a:t>
            </a:r>
            <a:r>
              <a:rPr lang="en-US" sz="2400" b="1">
                <a:solidFill>
                  <a:srgbClr val="262626"/>
                </a:solidFill>
                <a:ea typeface="+mn-lt"/>
                <a:cs typeface="+mn-lt"/>
              </a:rPr>
              <a:t>'e'</a:t>
            </a:r>
            <a:r>
              <a:rPr lang="en-US" sz="2400">
                <a:solidFill>
                  <a:srgbClr val="262626"/>
                </a:solidFill>
                <a:ea typeface="+mn-lt"/>
                <a:cs typeface="+mn-lt"/>
              </a:rPr>
              <a:t>, it both:</a:t>
            </a:r>
            <a:endParaRPr lang="en-US" sz="2400"/>
          </a:p>
          <a:p>
            <a:pPr marL="1028700" lvl="1">
              <a:buFont typeface="Wingdings 3"/>
              <a:buChar char=""/>
            </a:pPr>
            <a:r>
              <a:rPr lang="en-US" sz="2400">
                <a:solidFill>
                  <a:srgbClr val="262626"/>
                </a:solidFill>
                <a:ea typeface="+mn-lt"/>
                <a:cs typeface="+mn-lt"/>
              </a:rPr>
              <a:t>stays in q0</a:t>
            </a:r>
            <a:endParaRPr lang="en-US" sz="2400"/>
          </a:p>
          <a:p>
            <a:pPr marL="1028700" lvl="1">
              <a:buFont typeface="Wingdings 3"/>
              <a:buChar char=""/>
            </a:pPr>
            <a:r>
              <a:rPr lang="en-US" sz="2400">
                <a:solidFill>
                  <a:srgbClr val="262626"/>
                </a:solidFill>
                <a:ea typeface="+mn-lt"/>
                <a:cs typeface="+mn-lt"/>
              </a:rPr>
              <a:t>moves to q1</a:t>
            </a:r>
            <a:endParaRPr lang="en-US" sz="2400"/>
          </a:p>
          <a:p>
            <a:pPr>
              <a:buFont typeface="Wingdings 3"/>
              <a:buChar char=""/>
            </a:pPr>
            <a:r>
              <a:rPr lang="en-US" sz="2400">
                <a:solidFill>
                  <a:srgbClr val="262626"/>
                </a:solidFill>
                <a:ea typeface="+mn-lt"/>
                <a:cs typeface="+mn-lt"/>
              </a:rPr>
              <a:t>Eventually one path reaches q5</a:t>
            </a:r>
            <a:endParaRPr lang="en-US" sz="2400"/>
          </a:p>
          <a:p>
            <a:pPr>
              <a:buFont typeface="Wingdings 3"/>
              <a:buChar char=""/>
            </a:pPr>
            <a:r>
              <a:rPr lang="en-US" sz="2400">
                <a:solidFill>
                  <a:srgbClr val="262626"/>
                </a:solidFill>
                <a:ea typeface="+mn-lt"/>
                <a:cs typeface="+mn-lt"/>
              </a:rPr>
              <a:t>So,</a:t>
            </a:r>
            <a:r>
              <a:rPr lang="en-US" sz="2400" dirty="0">
                <a:solidFill>
                  <a:srgbClr val="262626"/>
                </a:solidFill>
                <a:ea typeface="+mn-lt"/>
                <a:cs typeface="+mn-lt"/>
              </a:rPr>
              <a:t> string is accepted</a:t>
            </a:r>
            <a:endParaRPr lang="en-US" sz="2400"/>
          </a:p>
          <a:p>
            <a:pPr indent="0">
              <a:buNone/>
            </a:pPr>
            <a:r>
              <a:rPr lang="en-US" sz="2400">
                <a:solidFill>
                  <a:srgbClr val="262626"/>
                </a:solidFill>
                <a:ea typeface="+mn-lt"/>
                <a:cs typeface="+mn-lt"/>
              </a:rPr>
              <a:t>NFA accepts if </a:t>
            </a:r>
            <a:r>
              <a:rPr lang="en-US" sz="2400" b="1">
                <a:solidFill>
                  <a:srgbClr val="262626"/>
                </a:solidFill>
                <a:ea typeface="+mn-lt"/>
                <a:cs typeface="+mn-lt"/>
              </a:rPr>
              <a:t>at least one path</a:t>
            </a:r>
            <a:r>
              <a:rPr lang="en-US" sz="2400">
                <a:solidFill>
                  <a:srgbClr val="262626"/>
                </a:solidFill>
                <a:ea typeface="+mn-lt"/>
                <a:cs typeface="+mn-lt"/>
              </a:rPr>
              <a:t> reaches final state.</a:t>
            </a:r>
            <a:endParaRPr lang="en-US" sz="2400"/>
          </a:p>
          <a:p>
            <a:pPr marL="0" indent="0">
              <a:spcBef>
                <a:spcPct val="0"/>
              </a:spcBef>
              <a:buNone/>
            </a:pPr>
            <a:endParaRPr lang="en-US" sz="2400" b="1" dirty="0">
              <a:solidFill>
                <a:srgbClr val="262626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277487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FADF7-4FFE-0631-38AD-B35C0B4DE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74D87-AB81-E30C-CE9A-607C53C5B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1259" y="624110"/>
            <a:ext cx="9123353" cy="1280890"/>
          </a:xfrm>
        </p:spPr>
        <p:txBody>
          <a:bodyPr>
            <a:normAutofit/>
          </a:bodyPr>
          <a:lstStyle/>
          <a:p>
            <a:r>
              <a:rPr lang="en-US" b="1">
                <a:ea typeface="+mj-lt"/>
                <a:cs typeface="+mj-lt"/>
              </a:rPr>
              <a:t>Formal Methods Application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BF464-E9FF-F91C-F796-FEABF6F11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7547" y="1484490"/>
            <a:ext cx="9395176" cy="4426732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2400">
                <a:solidFill>
                  <a:srgbClr val="262626"/>
                </a:solidFill>
                <a:ea typeface="+mn-lt"/>
                <a:cs typeface="+mn-lt"/>
              </a:rPr>
              <a:t>This NFA models:</a:t>
            </a:r>
            <a:endParaRPr lang="en-US">
              <a:ea typeface="+mn-lt"/>
              <a:cs typeface="+mn-lt"/>
            </a:endParaRPr>
          </a:p>
          <a:p>
            <a:pPr>
              <a:buFont typeface="Wingdings 3"/>
              <a:buChar char=""/>
            </a:pPr>
            <a:r>
              <a:rPr lang="en-US" sz="2400">
                <a:solidFill>
                  <a:srgbClr val="262626"/>
                </a:solidFill>
                <a:ea typeface="+mn-lt"/>
                <a:cs typeface="+mn-lt"/>
              </a:rPr>
              <a:t>Runtime monitoring</a:t>
            </a:r>
            <a:endParaRPr lang="en-US"/>
          </a:p>
          <a:p>
            <a:pPr>
              <a:buFont typeface="Wingdings 3"/>
              <a:buChar char=""/>
            </a:pPr>
            <a:r>
              <a:rPr lang="en-US" sz="2400">
                <a:solidFill>
                  <a:srgbClr val="262626"/>
                </a:solidFill>
                <a:ea typeface="+mn-lt"/>
                <a:cs typeface="+mn-lt"/>
              </a:rPr>
              <a:t>Pattern detection</a:t>
            </a:r>
            <a:endParaRPr lang="en-US"/>
          </a:p>
          <a:p>
            <a:pPr>
              <a:buFont typeface="Wingdings 3"/>
              <a:buChar char=""/>
            </a:pPr>
            <a:r>
              <a:rPr lang="en-US" sz="2400">
                <a:solidFill>
                  <a:srgbClr val="262626"/>
                </a:solidFill>
                <a:ea typeface="+mn-lt"/>
                <a:cs typeface="+mn-lt"/>
              </a:rPr>
              <a:t>Property verification</a:t>
            </a:r>
            <a:endParaRPr lang="en-US"/>
          </a:p>
          <a:p>
            <a:pPr indent="0">
              <a:buNone/>
            </a:pPr>
            <a:r>
              <a:rPr lang="en-US" sz="2400">
                <a:solidFill>
                  <a:srgbClr val="262626"/>
                </a:solidFill>
                <a:ea typeface="+mn-lt"/>
                <a:cs typeface="+mn-lt"/>
              </a:rPr>
              <a:t>Property being verified: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r>
              <a:rPr lang="en-US" sz="2400">
                <a:solidFill>
                  <a:srgbClr val="262626"/>
                </a:solidFill>
                <a:ea typeface="+mn-lt"/>
                <a:cs typeface="+mn-lt"/>
              </a:rPr>
              <a:t>“The word </a:t>
            </a:r>
            <a:r>
              <a:rPr lang="en-US" sz="2400" b="1">
                <a:solidFill>
                  <a:srgbClr val="262626"/>
                </a:solidFill>
                <a:ea typeface="+mn-lt"/>
                <a:cs typeface="+mn-lt"/>
              </a:rPr>
              <a:t>‘error’ </a:t>
            </a:r>
            <a:r>
              <a:rPr lang="en-US" sz="2400">
                <a:solidFill>
                  <a:srgbClr val="262626"/>
                </a:solidFill>
                <a:ea typeface="+mn-lt"/>
                <a:cs typeface="+mn-lt"/>
              </a:rPr>
              <a:t>occurs in the system log.”</a:t>
            </a:r>
            <a:endParaRPr lang="en-US"/>
          </a:p>
          <a:p>
            <a:pPr marL="0" indent="0">
              <a:spcBef>
                <a:spcPct val="0"/>
              </a:spcBef>
              <a:buNone/>
            </a:pPr>
            <a:endParaRPr lang="en-US" sz="2400" b="1" dirty="0">
              <a:solidFill>
                <a:srgbClr val="262626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331804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661D2-12C7-AAA8-8254-674FF2965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7DF08-4D0C-2829-4E4D-81D261F56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Summary of FSM Types</a:t>
            </a:r>
            <a:endParaRPr lang="en-US" b="1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8BAC2FD-8CB3-570F-D4B1-88C5F826FF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9807993"/>
              </p:ext>
            </p:extLst>
          </p:nvPr>
        </p:nvGraphicFramePr>
        <p:xfrm>
          <a:off x="2589213" y="1526822"/>
          <a:ext cx="8915388" cy="4297680"/>
        </p:xfrm>
        <a:graphic>
          <a:graphicData uri="http://schemas.openxmlformats.org/drawingml/2006/table">
            <a:tbl>
              <a:tblPr bandRow="1">
                <a:tableStyleId>{BC89EF96-8CEA-46FF-86C4-4CE0E7609802}</a:tableStyleId>
              </a:tblPr>
              <a:tblGrid>
                <a:gridCol w="2349499">
                  <a:extLst>
                    <a:ext uri="{9D8B030D-6E8A-4147-A177-3AD203B41FA5}">
                      <a16:colId xmlns:a16="http://schemas.microsoft.com/office/drawing/2014/main" val="1741682105"/>
                    </a:ext>
                  </a:extLst>
                </a:gridCol>
                <a:gridCol w="2451100">
                  <a:extLst>
                    <a:ext uri="{9D8B030D-6E8A-4147-A177-3AD203B41FA5}">
                      <a16:colId xmlns:a16="http://schemas.microsoft.com/office/drawing/2014/main" val="3204035367"/>
                    </a:ext>
                  </a:extLst>
                </a:gridCol>
                <a:gridCol w="1181092">
                  <a:extLst>
                    <a:ext uri="{9D8B030D-6E8A-4147-A177-3AD203B41FA5}">
                      <a16:colId xmlns:a16="http://schemas.microsoft.com/office/drawing/2014/main" val="213287437"/>
                    </a:ext>
                  </a:extLst>
                </a:gridCol>
                <a:gridCol w="2933697">
                  <a:extLst>
                    <a:ext uri="{9D8B030D-6E8A-4147-A177-3AD203B41FA5}">
                      <a16:colId xmlns:a16="http://schemas.microsoft.com/office/drawing/2014/main" val="29841762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Key 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Use Case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25804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FA (without output)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Accept/reject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Language recognition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17420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FA (with output)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Produces 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Sequence detector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65933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Moore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Output depends on state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Control systems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8383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Mealy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Output depends on state + 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Real-time systems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4564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DFA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Deterministic transitions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Optional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Implementation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25072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NFA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Multiple transitions per 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Optional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Theoretical models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31195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b="1"/>
                        <a:t>ε-</a:t>
                      </a:r>
                      <a:r>
                        <a:rPr lang="en-US" b="1"/>
                        <a:t>NFA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NFA with </a:t>
                      </a:r>
                      <a:r>
                        <a:rPr lang="el-GR"/>
                        <a:t>ε-</a:t>
                      </a:r>
                      <a:r>
                        <a:rPr lang="en-US"/>
                        <a:t>transitions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Optional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Regex processing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59315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33489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C5333-6DEF-0769-9A6D-9947CA5B6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AACBDF-232D-1512-A23F-F2FF783C8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8370" y="2148110"/>
            <a:ext cx="5129910" cy="1280890"/>
          </a:xfrm>
        </p:spPr>
        <p:txBody>
          <a:bodyPr/>
          <a:lstStyle/>
          <a:p>
            <a:r>
              <a:rPr lang="en-US" sz="4800" b="1"/>
              <a:t>Thank You!</a:t>
            </a:r>
            <a:br>
              <a:rPr lang="en-US" sz="4800" dirty="0"/>
            </a:br>
            <a:r>
              <a:rPr lang="en-US" sz="2800" dirty="0">
                <a:solidFill>
                  <a:srgbClr val="FFFFFF"/>
                </a:solidFill>
                <a:latin typeface="Abadi"/>
                <a:hlinkClick r:id="rId2"/>
              </a:rPr>
              <a:t>quratul.ain@paf-iast.edu.pk</a:t>
            </a:r>
            <a:endParaRPr lang="en-US" sz="2800" dirty="0" err="1"/>
          </a:p>
        </p:txBody>
      </p:sp>
    </p:spTree>
    <p:extLst>
      <p:ext uri="{BB962C8B-B14F-4D97-AF65-F5344CB8AC3E}">
        <p14:creationId xmlns:p14="http://schemas.microsoft.com/office/powerpoint/2010/main" val="72282733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54F6613E-5ED7-40ED-90A8-F639BE712C0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A70A6F9DE159459176C5F4A754E7C3" ma:contentTypeVersion="3" ma:contentTypeDescription="Create a new document." ma:contentTypeScope="" ma:versionID="56a2b33b959409422faddefbe5fb3528">
  <xsd:schema xmlns:xsd="http://www.w3.org/2001/XMLSchema" xmlns:xs="http://www.w3.org/2001/XMLSchema" xmlns:p="http://schemas.microsoft.com/office/2006/metadata/properties" xmlns:ns2="1ad5b3c2-0929-437f-865d-e04ca56e629f" targetNamespace="http://schemas.microsoft.com/office/2006/metadata/properties" ma:root="true" ma:fieldsID="b811ae6d59c1f1ca36c01f235d93c2a8" ns2:_="">
    <xsd:import namespace="1ad5b3c2-0929-437f-865d-e04ca56e62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d5b3c2-0929-437f-865d-e04ca56e62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EF48A38-AA14-4814-A1EC-DA29912AB616}"/>
</file>

<file path=customXml/itemProps2.xml><?xml version="1.0" encoding="utf-8"?>
<ds:datastoreItem xmlns:ds="http://schemas.openxmlformats.org/officeDocument/2006/customXml" ds:itemID="{ACB62BA1-7F5B-44D2-81A4-26A0392E4797}"/>
</file>

<file path=customXml/itemProps3.xml><?xml version="1.0" encoding="utf-8"?>
<ds:datastoreItem xmlns:ds="http://schemas.openxmlformats.org/officeDocument/2006/customXml" ds:itemID="{543E8555-8F08-43C6-903B-0F2762F17A16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41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Wisp</vt:lpstr>
      <vt:lpstr>Foundation of Formal Methods</vt:lpstr>
      <vt:lpstr>Agenda</vt:lpstr>
      <vt:lpstr>Basic Binary Logic Operations</vt:lpstr>
      <vt:lpstr>AND Operation</vt:lpstr>
      <vt:lpstr>OR Operation</vt:lpstr>
      <vt:lpstr>NOT Operation</vt:lpstr>
      <vt:lpstr>NAND Operation</vt:lpstr>
      <vt:lpstr>NOR Operation</vt:lpstr>
      <vt:lpstr>XOR (Exclusive OR)</vt:lpstr>
      <vt:lpstr>XNOR Operation</vt:lpstr>
      <vt:lpstr>Universal Gates</vt:lpstr>
      <vt:lpstr>Connection with FSM</vt:lpstr>
      <vt:lpstr>Summary </vt:lpstr>
      <vt:lpstr>Introduction to FSM</vt:lpstr>
      <vt:lpstr>Types of Finite State Machines (FSM)</vt:lpstr>
      <vt:lpstr>Components of FSM</vt:lpstr>
      <vt:lpstr>States</vt:lpstr>
      <vt:lpstr>Events / Inputs</vt:lpstr>
      <vt:lpstr>Transitions</vt:lpstr>
      <vt:lpstr>Initial and Final States</vt:lpstr>
      <vt:lpstr>Representation of FSM</vt:lpstr>
      <vt:lpstr>Traffic Light FSM Problem: Model a traffic light with 3 states.</vt:lpstr>
      <vt:lpstr>Deterministic FSM (DFSM / DFA)</vt:lpstr>
      <vt:lpstr>Deterministic FSM (DFA)</vt:lpstr>
      <vt:lpstr>Example 1: ATM Machine Authentication System</vt:lpstr>
      <vt:lpstr>Example 1: ATM Machine Authentication System</vt:lpstr>
      <vt:lpstr>Example 2:  Online Login System (3 Wrong Attempts → Account Locked)</vt:lpstr>
      <vt:lpstr>Example 2:  Online Login System (3 Wrong Attempts → Account Locked)</vt:lpstr>
      <vt:lpstr>Example 2:  Online Login System (3 Wrong Attempts → Account Locked)</vt:lpstr>
      <vt:lpstr>Example 2:  Online Login System (3 Wrong Attempts → Account Locked)</vt:lpstr>
      <vt:lpstr>Non-Deterministic FSM (NFSM / NFA)</vt:lpstr>
      <vt:lpstr>Example: System That Detects “Error” Pattern Anywhere in Input</vt:lpstr>
      <vt:lpstr>Why This Is NFA? </vt:lpstr>
      <vt:lpstr>Example: System That Detects “Error” Pattern Anywhere in Input</vt:lpstr>
      <vt:lpstr>Example: System That Detects “Error” Pattern Anywhere in Input</vt:lpstr>
      <vt:lpstr>Example: System That Detects “Error” Pattern Anywhere in Input</vt:lpstr>
      <vt:lpstr>Why This Is NFA? </vt:lpstr>
      <vt:lpstr>How It Works </vt:lpstr>
      <vt:lpstr>Formal Methods Application</vt:lpstr>
      <vt:lpstr>Summary of FSM Types</vt:lpstr>
      <vt:lpstr>Thank You! quratul.ain@paf-iast.edu.pk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761</cp:revision>
  <dcterms:created xsi:type="dcterms:W3CDTF">2026-02-01T11:45:25Z</dcterms:created>
  <dcterms:modified xsi:type="dcterms:W3CDTF">2026-02-16T05:18:49Z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0x01010076A70A6F9DE159459176C5F4A754E7C3</vt:lpwstr>
  </property>
</Properties>
</file>